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3fe711-217d-7faf-dc8e-0ed0b31056c1}">
          <p14:sldIdLst>
            <p14:sldId id="256"/>
          </p14:sldIdLst>
        </p14:section>
        <p14:section name="Problem and solution" id="{667495ca-a764-81d4-64d7-d34d1f663fb5}">
          <p14:sldIdLst>
            <p14:sldId id="257"/>
            <p14:sldId id="258"/>
          </p14:sldIdLst>
        </p14:section>
        <p14:section name="Product" id="{06ac9830-a941-4a49-ae5a-573e349b602c}">
          <p14:sldIdLst>
            <p14:sldId id="259"/>
            <p14:sldId id="260"/>
          </p14:sldIdLst>
        </p14:section>
        <p14:section name="Impact and next steps" id="{cbce224f-13eb-0337-70f5-2d968c1d229c}">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in one sentence: scam messages are designed to rush people, and most people have never been shown what the warning signs look like. ScamShield is a small, private learning tool. Everything on this deck reflects what is actually built. The screenshot is a real capture of the prototype running on a phone-sized screen, using a fictional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patterns the brief highlights: blocked-account threats, parcel fees, job fees, OTP and remote-access requests, guaranteed returns and family-emergency messages. The common thread is pressure. People may not know which parts of a message to question, how to keep evidence, or what a safe next step is, and most advice uses technical terms. We are not quoting statistics in this deck. ScamShield targets understanding and confidence, not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user workflow in five steps. The three tools share one idea: slow the person down and explain. Check explains a message or link. Learn builds the skill using fictional examples. Checklist helps someone who thinks they have been scammed gather facts for their bank or the official reporting channel. The thumbnails are real captures of each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Paste the fictional bank message. ScamShield shows the label High caution, tagged as triage guidance, not a verdict. Each warning sign shows the matched text, a plain-English reason and a suggested action. Colors are paired with the words Strong, Moderate or Minor so meaning never depends on color alone. Below the signs, it lists safe next steps and what to do if money or codes were already shared. A low-risk result always carries a reminder that it does not prove a message is legitimate.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picture. The server only sends files. All analysis happens in the browser, using a transparent rule list rather than an opaque AI score. Nothing is stored unless the person presses a save button, and the incident checklist is never stored. The page also tells the browser not to allow any network connections from its scripts. On the right are the four design commitments: private, never opens links, triage rather than verdict, and usable with keyboard, large text and phones. Accessibility was considered and checked in automated browser tests, but no screen-reader or user testing has been done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number here is measured: the automated test confirms that for all 9 fictional examples, every expected warning sign appears in the result (31 of 31). That is a consistency check, not a claim about accuracy on real scams. The four cards are proposed measures and are clearly labelled as targets, not results. They come from the project brief: quiz scores before and after, time to spot signs, examples completed in a workshop, and consent-based pilot feedback. Any pilot would need consent, no sensitive data, and honest reporting of sample size and limits. No outside statistics or sources are cited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Built and tested: the checker, the examples and quiz, the incident summary, and the privacy page, backed by 38 automated tests and 21 browser checks that all passed. Limits: simple English rules, no measured accuracy or impact, and reporting details that still need to be set for a real location. Next: a consent-based pilot with a community group, verified local reporting details, screen-reader testing, and the optional items from the brief (admin page, printable guide, installable app). Then invite the judges to try it with a fictional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457200" y="4818888"/>
            <a:ext cx="6400800" cy="201168"/>
          </a:xfrm>
          <a:prstGeom prst="rect">
            <a:avLst/>
          </a:prstGeom>
          <a:noFill/>
          <a:ln/>
        </p:spPr>
        <p:txBody>
          <a:bodyPr wrap="square" lIns="0" tIns="0" rIns="0" bIns="0" rtlCol="0" anchor="ctr"/>
          <a:lstStyle/>
          <a:p>
            <a:pPr indent="0" marL="0">
              <a:buNone/>
            </a:pPr>
            <a:r>
              <a:rPr lang="en-US" sz="1000" dirty="0">
                <a:solidFill>
                  <a:schemeClr val="accent5"/>
                </a:solidFill>
              </a:rPr>
              <a:t>ScamShield  |  All examples are fictional and for education only</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457200" y="4818888"/>
            <a:ext cx="6400800" cy="201168"/>
          </a:xfrm>
          <a:prstGeom prst="rect">
            <a:avLst/>
          </a:prstGeom>
          <a:noFill/>
          <a:ln/>
        </p:spPr>
        <p:txBody>
          <a:bodyPr wrap="square" lIns="0" tIns="0" rIns="0" bIns="0" rtlCol="0" anchor="ctr"/>
          <a:lstStyle/>
          <a:p>
            <a:pPr indent="0" marL="0">
              <a:buNone/>
            </a:pPr>
            <a:r>
              <a:rPr lang="en-US" sz="1000" dirty="0">
                <a:solidFill>
                  <a:schemeClr val="bg2"/>
                </a:solidFill>
              </a:rPr>
              <a:t>ScamShield  |  All examples are fictional and for education only</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DARK_FIL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91440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697230" y="651510"/>
            <a:ext cx="297180" cy="297180"/>
          </a:xfrm>
          <a:prstGeom prst="rect">
            <a:avLst/>
          </a:prstGeom>
        </p:spPr>
      </p:pic>
      <p:sp>
        <p:nvSpPr>
          <p:cNvPr id="4" name="Text 1"/>
          <p:cNvSpPr txBox="1"/>
          <p:nvPr/>
        </p:nvSpPr>
        <p:spPr>
          <a:xfrm>
            <a:off x="1325880" y="566928"/>
            <a:ext cx="4572000" cy="457200"/>
          </a:xfrm>
          <a:prstGeom prst="rect">
            <a:avLst/>
          </a:prstGeom>
          <a:noFill/>
          <a:ln/>
        </p:spPr>
        <p:txBody>
          <a:bodyPr wrap="square" lIns="0" tIns="0" rIns="0" bIns="0" rtlCol="0" anchor="ctr"/>
          <a:lstStyle/>
          <a:p>
            <a:pPr indent="0" marL="0">
              <a:buNone/>
            </a:pPr>
            <a:r>
              <a:rPr lang="en-US" sz="1200" b="1" spc="200" kern="0" dirty="0">
                <a:solidFill>
                  <a:schemeClr val="bg2"/>
                </a:solidFill>
              </a:rPr>
              <a:t>HACK FOR SOCIAL CAUSE  |  VBYLD 2027</a:t>
            </a:r>
            <a:endParaRPr lang="en-US" sz="1200" dirty="0"/>
          </a:p>
        </p:txBody>
      </p:sp>
      <p:sp>
        <p:nvSpPr>
          <p:cNvPr id="5" name="Text 0"/>
          <p:cNvSpPr/>
          <p:nvPr>
            <p:ph idx="100" type="title" hasCustomPrompt="1"/>
          </p:nvPr>
        </p:nvSpPr>
        <p:spPr>
          <a:xfrm>
            <a:off x="548640" y="1234440"/>
            <a:ext cx="5394960" cy="914400"/>
          </a:xfrm>
          <a:prstGeom prst="rect">
            <a:avLst/>
          </a:prstGeom>
          <a:noFill/>
          <a:ln/>
        </p:spPr>
        <p:txBody>
          <a:bodyPr wrap="square" lIns="0" tIns="0" rIns="0" bIns="0" rtlCol="0" anchor="ctr"/>
          <a:lstStyle/>
          <a:p>
            <a:pPr algn="l" indent="0" marL="0">
              <a:buNone/>
            </a:pPr>
            <a:r>
              <a:rPr lang="en-US" sz="5600" b="1" dirty="0">
                <a:solidFill>
                  <a:schemeClr val="bg1"/>
                </a:solidFill>
              </a:rPr>
              <a:t>ScamShield</a:t>
            </a:r>
            <a:endParaRPr lang="en-US" sz="5600" dirty="0"/>
          </a:p>
        </p:txBody>
      </p:sp>
      <p:sp>
        <p:nvSpPr>
          <p:cNvPr id="6" name="Text 3"/>
          <p:cNvSpPr txBox="1"/>
          <p:nvPr/>
        </p:nvSpPr>
        <p:spPr>
          <a:xfrm>
            <a:off x="548640" y="2240280"/>
            <a:ext cx="5394960" cy="457200"/>
          </a:xfrm>
          <a:prstGeom prst="rect">
            <a:avLst/>
          </a:prstGeom>
          <a:noFill/>
          <a:ln/>
        </p:spPr>
        <p:txBody>
          <a:bodyPr wrap="square" lIns="0" tIns="0" rIns="0" bIns="0" rtlCol="0" anchor="t"/>
          <a:lstStyle/>
          <a:p>
            <a:pPr indent="0" marL="0">
              <a:buNone/>
            </a:pPr>
            <a:r>
              <a:rPr lang="en-US" sz="2400" dirty="0">
                <a:solidFill>
                  <a:schemeClr val="bg2"/>
                </a:solidFill>
                <a:latin typeface="Cambria" pitchFamily="34" charset="0"/>
                <a:ea typeface="Cambria" pitchFamily="34" charset="-122"/>
                <a:cs typeface="Cambria" pitchFamily="34" charset="-120"/>
              </a:rPr>
              <a:t>Digital Fraud Awareness for Everyone</a:t>
            </a:r>
            <a:endParaRPr lang="en-US" sz="2400" dirty="0"/>
          </a:p>
        </p:txBody>
      </p:sp>
      <p:sp>
        <p:nvSpPr>
          <p:cNvPr id="7" name="Text 4"/>
          <p:cNvSpPr txBox="1"/>
          <p:nvPr/>
        </p:nvSpPr>
        <p:spPr>
          <a:xfrm>
            <a:off x="548640" y="2880360"/>
            <a:ext cx="5120640" cy="822960"/>
          </a:xfrm>
          <a:prstGeom prst="rect">
            <a:avLst/>
          </a:prstGeom>
          <a:noFill/>
          <a:ln/>
        </p:spPr>
        <p:txBody>
          <a:bodyPr wrap="square" lIns="0" tIns="0" rIns="0" bIns="0" rtlCol="0" anchor="t"/>
          <a:lstStyle/>
          <a:p>
            <a:pPr indent="0" marL="0">
              <a:buNone/>
            </a:pPr>
            <a:r>
              <a:rPr lang="en-US" sz="1600" dirty="0">
                <a:solidFill>
                  <a:schemeClr val="bg1"/>
                </a:solidFill>
              </a:rPr>
              <a:t>Spot suspicious messages and links, learn how common scams work, and prepare safer next steps. Everything runs on your own device.</a:t>
            </a:r>
            <a:endParaRPr lang="en-US" sz="1600" dirty="0"/>
          </a:p>
        </p:txBody>
      </p:sp>
      <p:sp>
        <p:nvSpPr>
          <p:cNvPr id="8" name="Shape 5"/>
          <p:cNvSpPr/>
          <p:nvPr/>
        </p:nvSpPr>
        <p:spPr>
          <a:xfrm>
            <a:off x="548640" y="3931920"/>
            <a:ext cx="914400" cy="347472"/>
          </a:xfrm>
          <a:prstGeom prst="roundRect">
            <a:avLst>
              <a:gd name="adj" fmla="val 50000"/>
            </a:avLst>
          </a:prstGeom>
          <a:solidFill>
            <a:schemeClr val="accent1"/>
          </a:solidFill>
          <a:ln/>
        </p:spPr>
      </p:sp>
      <p:sp>
        <p:nvSpPr>
          <p:cNvPr id="9" name="Text 6"/>
          <p:cNvSpPr txBox="1"/>
          <p:nvPr/>
        </p:nvSpPr>
        <p:spPr>
          <a:xfrm>
            <a:off x="548640" y="3931920"/>
            <a:ext cx="914400" cy="347472"/>
          </a:xfrm>
          <a:prstGeom prst="rect">
            <a:avLst/>
          </a:prstGeom>
          <a:noFill/>
          <a:ln/>
        </p:spPr>
        <p:txBody>
          <a:bodyPr wrap="square" lIns="0" tIns="0" rIns="0" bIns="0" rtlCol="0" anchor="ctr"/>
          <a:lstStyle/>
          <a:p>
            <a:pPr algn="ctr" indent="0" marL="0">
              <a:buNone/>
            </a:pPr>
            <a:r>
              <a:rPr lang="en-US" sz="1300" b="1" dirty="0">
                <a:solidFill>
                  <a:schemeClr val="bg1"/>
                </a:solidFill>
              </a:rPr>
              <a:t>SDG 9</a:t>
            </a:r>
            <a:endParaRPr lang="en-US" sz="1300" dirty="0"/>
          </a:p>
        </p:txBody>
      </p:sp>
      <p:sp>
        <p:nvSpPr>
          <p:cNvPr id="10" name="Shape 7"/>
          <p:cNvSpPr/>
          <p:nvPr/>
        </p:nvSpPr>
        <p:spPr>
          <a:xfrm>
            <a:off x="1600200" y="3931920"/>
            <a:ext cx="914400" cy="347472"/>
          </a:xfrm>
          <a:prstGeom prst="roundRect">
            <a:avLst>
              <a:gd name="adj" fmla="val 50000"/>
            </a:avLst>
          </a:prstGeom>
          <a:solidFill>
            <a:schemeClr val="accent1"/>
          </a:solidFill>
          <a:ln/>
        </p:spPr>
      </p:sp>
      <p:sp>
        <p:nvSpPr>
          <p:cNvPr id="11" name="Text 8"/>
          <p:cNvSpPr txBox="1"/>
          <p:nvPr/>
        </p:nvSpPr>
        <p:spPr>
          <a:xfrm>
            <a:off x="1600200" y="3931920"/>
            <a:ext cx="914400" cy="347472"/>
          </a:xfrm>
          <a:prstGeom prst="rect">
            <a:avLst/>
          </a:prstGeom>
          <a:noFill/>
          <a:ln/>
        </p:spPr>
        <p:txBody>
          <a:bodyPr wrap="square" lIns="0" tIns="0" rIns="0" bIns="0" rtlCol="0" anchor="ctr"/>
          <a:lstStyle/>
          <a:p>
            <a:pPr algn="ctr" indent="0" marL="0">
              <a:buNone/>
            </a:pPr>
            <a:r>
              <a:rPr lang="en-US" sz="1300" b="1" dirty="0">
                <a:solidFill>
                  <a:schemeClr val="bg1"/>
                </a:solidFill>
              </a:rPr>
              <a:t>SDG 10</a:t>
            </a:r>
            <a:endParaRPr lang="en-US" sz="1300" dirty="0"/>
          </a:p>
        </p:txBody>
      </p:sp>
      <p:sp>
        <p:nvSpPr>
          <p:cNvPr id="12" name="Shape 9"/>
          <p:cNvSpPr/>
          <p:nvPr/>
        </p:nvSpPr>
        <p:spPr>
          <a:xfrm>
            <a:off x="2651760" y="3931920"/>
            <a:ext cx="914400" cy="347472"/>
          </a:xfrm>
          <a:prstGeom prst="roundRect">
            <a:avLst>
              <a:gd name="adj" fmla="val 50000"/>
            </a:avLst>
          </a:prstGeom>
          <a:solidFill>
            <a:schemeClr val="accent1"/>
          </a:solidFill>
          <a:ln/>
        </p:spPr>
      </p:sp>
      <p:sp>
        <p:nvSpPr>
          <p:cNvPr id="13" name="Text 10"/>
          <p:cNvSpPr txBox="1"/>
          <p:nvPr/>
        </p:nvSpPr>
        <p:spPr>
          <a:xfrm>
            <a:off x="2651760" y="3931920"/>
            <a:ext cx="914400" cy="347472"/>
          </a:xfrm>
          <a:prstGeom prst="rect">
            <a:avLst/>
          </a:prstGeom>
          <a:noFill/>
          <a:ln/>
        </p:spPr>
        <p:txBody>
          <a:bodyPr wrap="square" lIns="0" tIns="0" rIns="0" bIns="0" rtlCol="0" anchor="ctr"/>
          <a:lstStyle/>
          <a:p>
            <a:pPr algn="ctr" indent="0" marL="0">
              <a:buNone/>
            </a:pPr>
            <a:r>
              <a:rPr lang="en-US" sz="1300" b="1" dirty="0">
                <a:solidFill>
                  <a:schemeClr val="bg1"/>
                </a:solidFill>
              </a:rPr>
              <a:t>SDG 16</a:t>
            </a:r>
            <a:endParaRPr lang="en-US" sz="1300" dirty="0"/>
          </a:p>
        </p:txBody>
      </p:sp>
      <p:sp>
        <p:nvSpPr>
          <p:cNvPr id="14" name="Text 11"/>
          <p:cNvSpPr txBox="1"/>
          <p:nvPr/>
        </p:nvSpPr>
        <p:spPr>
          <a:xfrm>
            <a:off x="548640" y="4434840"/>
            <a:ext cx="5120640" cy="274320"/>
          </a:xfrm>
          <a:prstGeom prst="rect">
            <a:avLst/>
          </a:prstGeom>
          <a:noFill/>
          <a:ln/>
        </p:spPr>
        <p:txBody>
          <a:bodyPr wrap="square" lIns="0" tIns="0" rIns="0" bIns="0" rtlCol="0" anchor="t"/>
          <a:lstStyle/>
          <a:p>
            <a:pPr indent="0" marL="0">
              <a:buNone/>
            </a:pPr>
            <a:r>
              <a:rPr lang="en-US" sz="1200" dirty="0">
                <a:solidFill>
                  <a:schemeClr val="bg2"/>
                </a:solidFill>
              </a:rPr>
              <a:t>Theme: Digital Safety and Cyber Fraud Awareness</a:t>
            </a:r>
            <a:endParaRPr lang="en-US" sz="1200" dirty="0"/>
          </a:p>
        </p:txBody>
      </p:sp>
      <p:sp>
        <p:nvSpPr>
          <p:cNvPr id="15" name="Shape 12"/>
          <p:cNvSpPr/>
          <p:nvPr/>
        </p:nvSpPr>
        <p:spPr>
          <a:xfrm>
            <a:off x="6355080" y="384048"/>
            <a:ext cx="2139696" cy="4297680"/>
          </a:xfrm>
          <a:prstGeom prst="roundRect">
            <a:avLst>
              <a:gd name="adj" fmla="val 5128"/>
            </a:avLst>
          </a:prstGeom>
          <a:solidFill>
            <a:schemeClr val="bg1"/>
          </a:solidFill>
          <a:ln/>
        </p:spPr>
      </p:sp>
      <p:pic>
        <p:nvPicPr>
          <p:cNvPr id="16" name="Image 1" descr="Real phone-size screenshot of ScamShield showing a High caution result for a fictional message">    </p:cNvPr>
          <p:cNvPicPr>
            <a:picLocks noChangeAspect="1"/>
          </p:cNvPicPr>
          <p:nvPr/>
        </p:nvPicPr>
        <p:blipFill>
          <a:blip r:embed="rId2"/>
          <a:srcRect l="0" r="0" t="0" b="0"/>
          <a:stretch/>
        </p:blipFill>
        <p:spPr>
          <a:xfrm>
            <a:off x="6419088" y="448056"/>
            <a:ext cx="2011680" cy="4169664"/>
          </a:xfrm>
          <a:prstGeom prst="rect">
            <a:avLst/>
          </a:prstGeom>
        </p:spPr>
      </p:pic>
      <p:sp>
        <p:nvSpPr>
          <p:cNvPr id="17" name="Text 13"/>
          <p:cNvSpPr txBox="1"/>
          <p:nvPr/>
        </p:nvSpPr>
        <p:spPr>
          <a:xfrm>
            <a:off x="5943600" y="4773168"/>
            <a:ext cx="2560320" cy="201168"/>
          </a:xfrm>
          <a:prstGeom prst="rect">
            <a:avLst/>
          </a:prstGeom>
          <a:noFill/>
          <a:ln/>
        </p:spPr>
        <p:txBody>
          <a:bodyPr wrap="square" lIns="0" tIns="0" rIns="0" bIns="0" rtlCol="0" anchor="t"/>
          <a:lstStyle/>
          <a:p>
            <a:pPr algn="r" indent="0" marL="0">
              <a:buNone/>
            </a:pPr>
            <a:r>
              <a:rPr lang="en-US" sz="1000" dirty="0">
                <a:solidFill>
                  <a:schemeClr val="bg2"/>
                </a:solidFill>
              </a:rPr>
              <a:t>Real screenshot of the prototype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Scams are built to rush people</a:t>
            </a:r>
            <a:endParaRPr lang="en-US" sz="3400" dirty="0"/>
          </a:p>
        </p:txBody>
      </p:sp>
      <p:sp>
        <p:nvSpPr>
          <p:cNvPr id="3" name="Shape 1"/>
          <p:cNvSpPr/>
          <p:nvPr/>
        </p:nvSpPr>
        <p:spPr>
          <a:xfrm>
            <a:off x="457200" y="1143000"/>
            <a:ext cx="2377440" cy="1024128"/>
          </a:xfrm>
          <a:prstGeom prst="roundRect">
            <a:avLst>
              <a:gd name="adj" fmla="val 10714"/>
            </a:avLst>
          </a:prstGeom>
          <a:solidFill>
            <a:schemeClr val="bg2"/>
          </a:solidFill>
          <a:ln/>
        </p:spPr>
      </p:sp>
      <p:sp>
        <p:nvSpPr>
          <p:cNvPr id="4" name="Shape 2"/>
          <p:cNvSpPr/>
          <p:nvPr/>
        </p:nvSpPr>
        <p:spPr>
          <a:xfrm>
            <a:off x="640080" y="1380744"/>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77240" y="1517904"/>
            <a:ext cx="274320" cy="274320"/>
          </a:xfrm>
          <a:prstGeom prst="rect">
            <a:avLst/>
          </a:prstGeom>
        </p:spPr>
      </p:pic>
      <p:sp>
        <p:nvSpPr>
          <p:cNvPr id="6" name="Text 3"/>
          <p:cNvSpPr txBox="1"/>
          <p:nvPr/>
        </p:nvSpPr>
        <p:spPr>
          <a:xfrm>
            <a:off x="1325880" y="1234440"/>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Account will be blocked</a:t>
            </a:r>
            <a:endParaRPr lang="en-US" sz="1400" dirty="0"/>
          </a:p>
        </p:txBody>
      </p:sp>
      <p:sp>
        <p:nvSpPr>
          <p:cNvPr id="7" name="Shape 4"/>
          <p:cNvSpPr/>
          <p:nvPr/>
        </p:nvSpPr>
        <p:spPr>
          <a:xfrm>
            <a:off x="3017520" y="1143000"/>
            <a:ext cx="2377440" cy="1024128"/>
          </a:xfrm>
          <a:prstGeom prst="roundRect">
            <a:avLst>
              <a:gd name="adj" fmla="val 10714"/>
            </a:avLst>
          </a:prstGeom>
          <a:solidFill>
            <a:schemeClr val="bg2"/>
          </a:solidFill>
          <a:ln/>
        </p:spPr>
      </p:sp>
      <p:sp>
        <p:nvSpPr>
          <p:cNvPr id="8" name="Shape 5"/>
          <p:cNvSpPr/>
          <p:nvPr/>
        </p:nvSpPr>
        <p:spPr>
          <a:xfrm>
            <a:off x="3200400" y="1380744"/>
            <a:ext cx="548640" cy="54864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3337560" y="1517904"/>
            <a:ext cx="274320" cy="274320"/>
          </a:xfrm>
          <a:prstGeom prst="rect">
            <a:avLst/>
          </a:prstGeom>
        </p:spPr>
      </p:pic>
      <p:sp>
        <p:nvSpPr>
          <p:cNvPr id="10" name="Text 6"/>
          <p:cNvSpPr txBox="1"/>
          <p:nvPr/>
        </p:nvSpPr>
        <p:spPr>
          <a:xfrm>
            <a:off x="3886200" y="1234440"/>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Parcel fee link</a:t>
            </a:r>
            <a:endParaRPr lang="en-US" sz="1400" dirty="0"/>
          </a:p>
        </p:txBody>
      </p:sp>
      <p:sp>
        <p:nvSpPr>
          <p:cNvPr id="11" name="Shape 7"/>
          <p:cNvSpPr/>
          <p:nvPr/>
        </p:nvSpPr>
        <p:spPr>
          <a:xfrm>
            <a:off x="457200" y="2350008"/>
            <a:ext cx="2377440" cy="1024128"/>
          </a:xfrm>
          <a:prstGeom prst="roundRect">
            <a:avLst>
              <a:gd name="adj" fmla="val 10714"/>
            </a:avLst>
          </a:prstGeom>
          <a:solidFill>
            <a:schemeClr val="bg2"/>
          </a:solidFill>
          <a:ln/>
        </p:spPr>
      </p:sp>
      <p:sp>
        <p:nvSpPr>
          <p:cNvPr id="12" name="Shape 8"/>
          <p:cNvSpPr/>
          <p:nvPr/>
        </p:nvSpPr>
        <p:spPr>
          <a:xfrm>
            <a:off x="640080" y="2587752"/>
            <a:ext cx="548640" cy="54864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777240" y="2724912"/>
            <a:ext cx="274320" cy="274320"/>
          </a:xfrm>
          <a:prstGeom prst="rect">
            <a:avLst/>
          </a:prstGeom>
        </p:spPr>
      </p:pic>
      <p:sp>
        <p:nvSpPr>
          <p:cNvPr id="14" name="Text 9"/>
          <p:cNvSpPr txBox="1"/>
          <p:nvPr/>
        </p:nvSpPr>
        <p:spPr>
          <a:xfrm>
            <a:off x="1325880" y="2441448"/>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Job registration fee</a:t>
            </a:r>
            <a:endParaRPr lang="en-US" sz="1400" dirty="0"/>
          </a:p>
        </p:txBody>
      </p:sp>
      <p:sp>
        <p:nvSpPr>
          <p:cNvPr id="15" name="Shape 10"/>
          <p:cNvSpPr/>
          <p:nvPr/>
        </p:nvSpPr>
        <p:spPr>
          <a:xfrm>
            <a:off x="3017520" y="2350008"/>
            <a:ext cx="2377440" cy="1024128"/>
          </a:xfrm>
          <a:prstGeom prst="roundRect">
            <a:avLst>
              <a:gd name="adj" fmla="val 10714"/>
            </a:avLst>
          </a:prstGeom>
          <a:solidFill>
            <a:schemeClr val="bg2"/>
          </a:solidFill>
          <a:ln/>
        </p:spPr>
      </p:sp>
      <p:sp>
        <p:nvSpPr>
          <p:cNvPr id="16" name="Shape 11"/>
          <p:cNvSpPr/>
          <p:nvPr/>
        </p:nvSpPr>
        <p:spPr>
          <a:xfrm>
            <a:off x="3200400" y="2587752"/>
            <a:ext cx="548640" cy="54864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3337560" y="2724912"/>
            <a:ext cx="274320" cy="274320"/>
          </a:xfrm>
          <a:prstGeom prst="rect">
            <a:avLst/>
          </a:prstGeom>
        </p:spPr>
      </p:pic>
      <p:sp>
        <p:nvSpPr>
          <p:cNvPr id="18" name="Text 12"/>
          <p:cNvSpPr txBox="1"/>
          <p:nvPr/>
        </p:nvSpPr>
        <p:spPr>
          <a:xfrm>
            <a:off x="3886200" y="2441448"/>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OTP or remote access</a:t>
            </a:r>
            <a:endParaRPr lang="en-US" sz="1400" dirty="0"/>
          </a:p>
        </p:txBody>
      </p:sp>
      <p:sp>
        <p:nvSpPr>
          <p:cNvPr id="19" name="Shape 13"/>
          <p:cNvSpPr/>
          <p:nvPr/>
        </p:nvSpPr>
        <p:spPr>
          <a:xfrm>
            <a:off x="457200" y="3557016"/>
            <a:ext cx="2377440" cy="1024128"/>
          </a:xfrm>
          <a:prstGeom prst="roundRect">
            <a:avLst>
              <a:gd name="adj" fmla="val 10714"/>
            </a:avLst>
          </a:prstGeom>
          <a:solidFill>
            <a:schemeClr val="bg2"/>
          </a:solidFill>
          <a:ln/>
        </p:spPr>
      </p:sp>
      <p:sp>
        <p:nvSpPr>
          <p:cNvPr id="20" name="Shape 14"/>
          <p:cNvSpPr/>
          <p:nvPr/>
        </p:nvSpPr>
        <p:spPr>
          <a:xfrm>
            <a:off x="640080" y="3794760"/>
            <a:ext cx="548640" cy="548640"/>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777240" y="3931920"/>
            <a:ext cx="274320" cy="274320"/>
          </a:xfrm>
          <a:prstGeom prst="rect">
            <a:avLst/>
          </a:prstGeom>
        </p:spPr>
      </p:pic>
      <p:sp>
        <p:nvSpPr>
          <p:cNvPr id="22" name="Text 15"/>
          <p:cNvSpPr txBox="1"/>
          <p:nvPr/>
        </p:nvSpPr>
        <p:spPr>
          <a:xfrm>
            <a:off x="1325880" y="3648456"/>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Guaranteed returns</a:t>
            </a:r>
            <a:endParaRPr lang="en-US" sz="1400" dirty="0"/>
          </a:p>
        </p:txBody>
      </p:sp>
      <p:sp>
        <p:nvSpPr>
          <p:cNvPr id="23" name="Shape 16"/>
          <p:cNvSpPr/>
          <p:nvPr/>
        </p:nvSpPr>
        <p:spPr>
          <a:xfrm>
            <a:off x="3017520" y="3557016"/>
            <a:ext cx="2377440" cy="1024128"/>
          </a:xfrm>
          <a:prstGeom prst="roundRect">
            <a:avLst>
              <a:gd name="adj" fmla="val 10714"/>
            </a:avLst>
          </a:prstGeom>
          <a:solidFill>
            <a:schemeClr val="bg2"/>
          </a:solidFill>
          <a:ln/>
        </p:spPr>
      </p:sp>
      <p:sp>
        <p:nvSpPr>
          <p:cNvPr id="24" name="Shape 17"/>
          <p:cNvSpPr/>
          <p:nvPr/>
        </p:nvSpPr>
        <p:spPr>
          <a:xfrm>
            <a:off x="3200400" y="3794760"/>
            <a:ext cx="548640" cy="548640"/>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3337560" y="3931920"/>
            <a:ext cx="274320" cy="274320"/>
          </a:xfrm>
          <a:prstGeom prst="rect">
            <a:avLst/>
          </a:prstGeom>
        </p:spPr>
      </p:pic>
      <p:sp>
        <p:nvSpPr>
          <p:cNvPr id="26" name="Text 18"/>
          <p:cNvSpPr txBox="1"/>
          <p:nvPr/>
        </p:nvSpPr>
        <p:spPr>
          <a:xfrm>
            <a:off x="3886200" y="3648456"/>
            <a:ext cx="1417320" cy="841248"/>
          </a:xfrm>
          <a:prstGeom prst="rect">
            <a:avLst/>
          </a:prstGeom>
          <a:noFill/>
          <a:ln/>
        </p:spPr>
        <p:txBody>
          <a:bodyPr wrap="square" lIns="0" tIns="0" rIns="0" bIns="0" rtlCol="0" anchor="ctr"/>
          <a:lstStyle/>
          <a:p>
            <a:pPr indent="0" marL="0">
              <a:buNone/>
            </a:pPr>
            <a:r>
              <a:rPr lang="en-US" sz="1400" b="1" dirty="0">
                <a:solidFill>
                  <a:schemeClr val="tx1"/>
                </a:solidFill>
              </a:rPr>
              <a:t>Family in trouble</a:t>
            </a:r>
            <a:endParaRPr lang="en-US" sz="1400" dirty="0"/>
          </a:p>
        </p:txBody>
      </p:sp>
      <p:sp>
        <p:nvSpPr>
          <p:cNvPr id="27" name="Shape 19"/>
          <p:cNvSpPr/>
          <p:nvPr/>
        </p:nvSpPr>
        <p:spPr>
          <a:xfrm>
            <a:off x="5669280" y="1143000"/>
            <a:ext cx="3017520" cy="3438144"/>
          </a:xfrm>
          <a:prstGeom prst="roundRect">
            <a:avLst>
              <a:gd name="adj" fmla="val 3636"/>
            </a:avLst>
          </a:prstGeom>
          <a:solidFill>
            <a:schemeClr val="bg2"/>
          </a:solidFill>
          <a:ln/>
        </p:spPr>
      </p:sp>
      <p:sp>
        <p:nvSpPr>
          <p:cNvPr id="28" name="Text 20"/>
          <p:cNvSpPr txBox="1"/>
          <p:nvPr/>
        </p:nvSpPr>
        <p:spPr>
          <a:xfrm>
            <a:off x="5852160" y="1280160"/>
            <a:ext cx="2651760" cy="274320"/>
          </a:xfrm>
          <a:prstGeom prst="rect">
            <a:avLst/>
          </a:prstGeom>
          <a:noFill/>
          <a:ln/>
        </p:spPr>
        <p:txBody>
          <a:bodyPr wrap="square" lIns="0" tIns="0" rIns="0" bIns="0" rtlCol="0" anchor="t"/>
          <a:lstStyle/>
          <a:p>
            <a:pPr indent="0" marL="0">
              <a:buNone/>
            </a:pPr>
            <a:r>
              <a:rPr lang="en-US" sz="1600" b="1" dirty="0">
                <a:solidFill>
                  <a:schemeClr val="tx2"/>
                </a:solidFill>
              </a:rPr>
              <a:t>The gap</a:t>
            </a:r>
            <a:endParaRPr lang="en-US" sz="1600" dirty="0"/>
          </a:p>
        </p:txBody>
      </p:sp>
      <p:sp>
        <p:nvSpPr>
          <p:cNvPr id="29" name="Text 21"/>
          <p:cNvSpPr txBox="1"/>
          <p:nvPr/>
        </p:nvSpPr>
        <p:spPr>
          <a:xfrm>
            <a:off x="5852160" y="1600200"/>
            <a:ext cx="269748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Warning signs are hard to see under pressure</a:t>
            </a:r>
            <a:endParaRPr lang="en-US" sz="1400" dirty="0"/>
          </a:p>
          <a:p>
            <a:pPr marL="342900" indent="-342900">
              <a:spcAft>
                <a:spcPts val="400"/>
              </a:spcAft>
              <a:buSzPct val="100000"/>
              <a:buChar char="•"/>
            </a:pPr>
            <a:r>
              <a:rPr lang="en-US" sz="1400" dirty="0">
                <a:solidFill>
                  <a:schemeClr val="tx1"/>
                </a:solidFill>
              </a:rPr>
              <a:t>Evidence and next steps are unclear</a:t>
            </a:r>
            <a:endParaRPr lang="en-US" sz="1400" dirty="0"/>
          </a:p>
          <a:p>
            <a:pPr marL="342900" indent="-342900">
              <a:spcAft>
                <a:spcPts val="400"/>
              </a:spcAft>
              <a:buSzPct val="100000"/>
              <a:buChar char="•"/>
            </a:pPr>
            <a:r>
              <a:rPr lang="en-US" sz="1400" dirty="0">
                <a:solidFill>
                  <a:schemeClr val="tx1"/>
                </a:solidFill>
              </a:rPr>
              <a:t>Advice is full of technical words</a:t>
            </a:r>
            <a:endParaRPr lang="en-US" sz="1400" dirty="0"/>
          </a:p>
        </p:txBody>
      </p:sp>
      <p:sp>
        <p:nvSpPr>
          <p:cNvPr id="30" name="Text 22"/>
          <p:cNvSpPr txBox="1"/>
          <p:nvPr/>
        </p:nvSpPr>
        <p:spPr>
          <a:xfrm>
            <a:off x="5852160" y="3017520"/>
            <a:ext cx="2651760" cy="274320"/>
          </a:xfrm>
          <a:prstGeom prst="rect">
            <a:avLst/>
          </a:prstGeom>
          <a:noFill/>
          <a:ln/>
        </p:spPr>
        <p:txBody>
          <a:bodyPr wrap="square" lIns="0" tIns="0" rIns="0" bIns="0" rtlCol="0" anchor="t"/>
          <a:lstStyle/>
          <a:p>
            <a:pPr indent="0" marL="0">
              <a:buNone/>
            </a:pPr>
            <a:r>
              <a:rPr lang="en-US" sz="1600" b="1" dirty="0">
                <a:solidFill>
                  <a:schemeClr val="tx2"/>
                </a:solidFill>
              </a:rPr>
              <a:t>Who it helps</a:t>
            </a:r>
            <a:endParaRPr lang="en-US" sz="1600" dirty="0"/>
          </a:p>
        </p:txBody>
      </p:sp>
      <p:sp>
        <p:nvSpPr>
          <p:cNvPr id="31" name="Text 23"/>
          <p:cNvSpPr txBox="1"/>
          <p:nvPr/>
        </p:nvSpPr>
        <p:spPr>
          <a:xfrm>
            <a:off x="5852160" y="3337560"/>
            <a:ext cx="269748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Students and first-time payment users</a:t>
            </a:r>
            <a:endParaRPr lang="en-US" sz="1400" dirty="0"/>
          </a:p>
          <a:p>
            <a:pPr marL="342900" indent="-342900">
              <a:spcAft>
                <a:spcPts val="400"/>
              </a:spcAft>
              <a:buSzPct val="100000"/>
              <a:buChar char="•"/>
            </a:pPr>
            <a:r>
              <a:rPr lang="en-US" sz="1400" dirty="0">
                <a:solidFill>
                  <a:schemeClr val="tx1"/>
                </a:solidFill>
              </a:rPr>
              <a:t>Older adults</a:t>
            </a:r>
            <a:endParaRPr lang="en-US" sz="1400" dirty="0"/>
          </a:p>
          <a:p>
            <a:pPr marL="342900" indent="-342900">
              <a:spcAft>
                <a:spcPts val="400"/>
              </a:spcAft>
              <a:buSzPct val="100000"/>
              <a:buChar char="•"/>
            </a:pPr>
            <a:r>
              <a:rPr lang="en-US" sz="1400" dirty="0">
                <a:solidFill>
                  <a:schemeClr val="tx1"/>
                </a:solidFill>
              </a:rPr>
              <a:t>Community trainers</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How ScamShield helps</a:t>
            </a:r>
            <a:endParaRPr lang="en-US" sz="3400" dirty="0"/>
          </a:p>
        </p:txBody>
      </p:sp>
      <p:sp>
        <p:nvSpPr>
          <p:cNvPr id="3" name="Shape 1"/>
          <p:cNvSpPr/>
          <p:nvPr/>
        </p:nvSpPr>
        <p:spPr>
          <a:xfrm>
            <a:off x="457200" y="1097280"/>
            <a:ext cx="1463040" cy="868680"/>
          </a:xfrm>
          <a:prstGeom prst="roundRect">
            <a:avLst>
              <a:gd name="adj" fmla="val 12632"/>
            </a:avLst>
          </a:prstGeom>
          <a:solidFill>
            <a:schemeClr val="tx2"/>
          </a:solidFill>
          <a:ln/>
        </p:spPr>
      </p:sp>
      <p:sp>
        <p:nvSpPr>
          <p:cNvPr id="4" name="Text 2"/>
          <p:cNvSpPr txBox="1"/>
          <p:nvPr/>
        </p:nvSpPr>
        <p:spPr>
          <a:xfrm>
            <a:off x="566928" y="1161288"/>
            <a:ext cx="1261872" cy="749808"/>
          </a:xfrm>
          <a:prstGeom prst="rect">
            <a:avLst/>
          </a:prstGeom>
          <a:noFill/>
          <a:ln/>
        </p:spPr>
        <p:txBody>
          <a:bodyPr wrap="square" lIns="0" tIns="0" rIns="0" bIns="0" rtlCol="0" anchor="t"/>
          <a:lstStyle/>
          <a:p>
            <a:pPr indent="0" marL="0">
              <a:buNone/>
            </a:pPr>
            <a:r>
              <a:rPr lang="en-US" sz="1400" b="1" dirty="0">
                <a:solidFill>
                  <a:schemeClr val="bg2"/>
                </a:solidFill>
              </a:rPr>
              <a:t>1</a:t>
            </a:r>
            <a:endParaRPr lang="en-US" sz="1400" dirty="0"/>
          </a:p>
          <a:p>
            <a:pPr indent="0" marL="0">
              <a:buNone/>
            </a:pPr>
            <a:r>
              <a:rPr lang="en-US" sz="1400" b="1" dirty="0">
                <a:solidFill>
                  <a:schemeClr val="bg1"/>
                </a:solidFill>
              </a:rPr>
              <a:t>Paste a message or link</a:t>
            </a:r>
            <a:endParaRPr lang="en-US" sz="1400" dirty="0"/>
          </a:p>
        </p:txBody>
      </p:sp>
      <p:sp>
        <p:nvSpPr>
          <p:cNvPr id="5" name="Shape 3"/>
          <p:cNvSpPr/>
          <p:nvPr/>
        </p:nvSpPr>
        <p:spPr>
          <a:xfrm>
            <a:off x="1956816" y="1426464"/>
            <a:ext cx="155448" cy="201168"/>
          </a:xfrm>
          <a:prstGeom prst="rightArrow">
            <a:avLst/>
          </a:prstGeom>
          <a:solidFill>
            <a:schemeClr val="accent1"/>
          </a:solidFill>
          <a:ln/>
        </p:spPr>
      </p:sp>
      <p:sp>
        <p:nvSpPr>
          <p:cNvPr id="6" name="Shape 4"/>
          <p:cNvSpPr/>
          <p:nvPr/>
        </p:nvSpPr>
        <p:spPr>
          <a:xfrm>
            <a:off x="2148840" y="1097280"/>
            <a:ext cx="1463040" cy="868680"/>
          </a:xfrm>
          <a:prstGeom prst="roundRect">
            <a:avLst>
              <a:gd name="adj" fmla="val 12632"/>
            </a:avLst>
          </a:prstGeom>
          <a:solidFill>
            <a:schemeClr val="tx2"/>
          </a:solidFill>
          <a:ln/>
        </p:spPr>
      </p:sp>
      <p:sp>
        <p:nvSpPr>
          <p:cNvPr id="7" name="Text 5"/>
          <p:cNvSpPr txBox="1"/>
          <p:nvPr/>
        </p:nvSpPr>
        <p:spPr>
          <a:xfrm>
            <a:off x="2258568" y="1161288"/>
            <a:ext cx="1261872" cy="749808"/>
          </a:xfrm>
          <a:prstGeom prst="rect">
            <a:avLst/>
          </a:prstGeom>
          <a:noFill/>
          <a:ln/>
        </p:spPr>
        <p:txBody>
          <a:bodyPr wrap="square" lIns="0" tIns="0" rIns="0" bIns="0" rtlCol="0" anchor="t"/>
          <a:lstStyle/>
          <a:p>
            <a:pPr indent="0" marL="0">
              <a:buNone/>
            </a:pPr>
            <a:r>
              <a:rPr lang="en-US" sz="1400" b="1" dirty="0">
                <a:solidFill>
                  <a:schemeClr val="bg2"/>
                </a:solidFill>
              </a:rPr>
              <a:t>2</a:t>
            </a:r>
            <a:endParaRPr lang="en-US" sz="1400" dirty="0"/>
          </a:p>
          <a:p>
            <a:pPr indent="0" marL="0">
              <a:buNone/>
            </a:pPr>
            <a:r>
              <a:rPr lang="en-US" sz="1400" b="1" dirty="0">
                <a:solidFill>
                  <a:schemeClr val="bg1"/>
                </a:solidFill>
              </a:rPr>
              <a:t>Checked on your device</a:t>
            </a:r>
            <a:endParaRPr lang="en-US" sz="1400" dirty="0"/>
          </a:p>
        </p:txBody>
      </p:sp>
      <p:sp>
        <p:nvSpPr>
          <p:cNvPr id="8" name="Shape 6"/>
          <p:cNvSpPr/>
          <p:nvPr/>
        </p:nvSpPr>
        <p:spPr>
          <a:xfrm>
            <a:off x="3648456" y="1426464"/>
            <a:ext cx="155448" cy="201168"/>
          </a:xfrm>
          <a:prstGeom prst="rightArrow">
            <a:avLst/>
          </a:prstGeom>
          <a:solidFill>
            <a:schemeClr val="accent1"/>
          </a:solidFill>
          <a:ln/>
        </p:spPr>
      </p:sp>
      <p:sp>
        <p:nvSpPr>
          <p:cNvPr id="9" name="Shape 7"/>
          <p:cNvSpPr/>
          <p:nvPr/>
        </p:nvSpPr>
        <p:spPr>
          <a:xfrm>
            <a:off x="3840480" y="1097280"/>
            <a:ext cx="1463040" cy="868680"/>
          </a:xfrm>
          <a:prstGeom prst="roundRect">
            <a:avLst>
              <a:gd name="adj" fmla="val 12632"/>
            </a:avLst>
          </a:prstGeom>
          <a:solidFill>
            <a:schemeClr val="tx2"/>
          </a:solidFill>
          <a:ln/>
        </p:spPr>
      </p:sp>
      <p:sp>
        <p:nvSpPr>
          <p:cNvPr id="10" name="Text 8"/>
          <p:cNvSpPr txBox="1"/>
          <p:nvPr/>
        </p:nvSpPr>
        <p:spPr>
          <a:xfrm>
            <a:off x="3950208" y="1161288"/>
            <a:ext cx="1261872" cy="749808"/>
          </a:xfrm>
          <a:prstGeom prst="rect">
            <a:avLst/>
          </a:prstGeom>
          <a:noFill/>
          <a:ln/>
        </p:spPr>
        <p:txBody>
          <a:bodyPr wrap="square" lIns="0" tIns="0" rIns="0" bIns="0" rtlCol="0" anchor="t"/>
          <a:lstStyle/>
          <a:p>
            <a:pPr indent="0" marL="0">
              <a:buNone/>
            </a:pPr>
            <a:r>
              <a:rPr lang="en-US" sz="1400" b="1" dirty="0">
                <a:solidFill>
                  <a:schemeClr val="bg2"/>
                </a:solidFill>
              </a:rPr>
              <a:t>3</a:t>
            </a:r>
            <a:endParaRPr lang="en-US" sz="1400" dirty="0"/>
          </a:p>
          <a:p>
            <a:pPr indent="0" marL="0">
              <a:buNone/>
            </a:pPr>
            <a:r>
              <a:rPr lang="en-US" sz="1400" b="1" dirty="0">
                <a:solidFill>
                  <a:schemeClr val="bg1"/>
                </a:solidFill>
              </a:rPr>
              <a:t>Read the warning signs</a:t>
            </a:r>
            <a:endParaRPr lang="en-US" sz="1400" dirty="0"/>
          </a:p>
        </p:txBody>
      </p:sp>
      <p:sp>
        <p:nvSpPr>
          <p:cNvPr id="11" name="Shape 9"/>
          <p:cNvSpPr/>
          <p:nvPr/>
        </p:nvSpPr>
        <p:spPr>
          <a:xfrm>
            <a:off x="5340096" y="1426464"/>
            <a:ext cx="155448" cy="201168"/>
          </a:xfrm>
          <a:prstGeom prst="rightArrow">
            <a:avLst/>
          </a:prstGeom>
          <a:solidFill>
            <a:schemeClr val="accent1"/>
          </a:solidFill>
          <a:ln/>
        </p:spPr>
      </p:sp>
      <p:sp>
        <p:nvSpPr>
          <p:cNvPr id="12" name="Shape 10"/>
          <p:cNvSpPr/>
          <p:nvPr/>
        </p:nvSpPr>
        <p:spPr>
          <a:xfrm>
            <a:off x="5532120" y="1097280"/>
            <a:ext cx="1463040" cy="868680"/>
          </a:xfrm>
          <a:prstGeom prst="roundRect">
            <a:avLst>
              <a:gd name="adj" fmla="val 12632"/>
            </a:avLst>
          </a:prstGeom>
          <a:solidFill>
            <a:schemeClr val="tx2"/>
          </a:solidFill>
          <a:ln/>
        </p:spPr>
      </p:sp>
      <p:sp>
        <p:nvSpPr>
          <p:cNvPr id="13" name="Text 11"/>
          <p:cNvSpPr txBox="1"/>
          <p:nvPr/>
        </p:nvSpPr>
        <p:spPr>
          <a:xfrm>
            <a:off x="5641848" y="1161288"/>
            <a:ext cx="1261872" cy="749808"/>
          </a:xfrm>
          <a:prstGeom prst="rect">
            <a:avLst/>
          </a:prstGeom>
          <a:noFill/>
          <a:ln/>
        </p:spPr>
        <p:txBody>
          <a:bodyPr wrap="square" lIns="0" tIns="0" rIns="0" bIns="0" rtlCol="0" anchor="t"/>
          <a:lstStyle/>
          <a:p>
            <a:pPr indent="0" marL="0">
              <a:buNone/>
            </a:pPr>
            <a:r>
              <a:rPr lang="en-US" sz="1400" b="1" dirty="0">
                <a:solidFill>
                  <a:schemeClr val="bg2"/>
                </a:solidFill>
              </a:rPr>
              <a:t>4</a:t>
            </a:r>
            <a:endParaRPr lang="en-US" sz="1400" dirty="0"/>
          </a:p>
          <a:p>
            <a:pPr indent="0" marL="0">
              <a:buNone/>
            </a:pPr>
            <a:r>
              <a:rPr lang="en-US" sz="1400" b="1" dirty="0">
                <a:solidFill>
                  <a:schemeClr val="bg1"/>
                </a:solidFill>
              </a:rPr>
              <a:t>Follow safe next steps</a:t>
            </a:r>
            <a:endParaRPr lang="en-US" sz="1400" dirty="0"/>
          </a:p>
        </p:txBody>
      </p:sp>
      <p:sp>
        <p:nvSpPr>
          <p:cNvPr id="14" name="Shape 12"/>
          <p:cNvSpPr/>
          <p:nvPr/>
        </p:nvSpPr>
        <p:spPr>
          <a:xfrm>
            <a:off x="7031736" y="1426464"/>
            <a:ext cx="155448" cy="201168"/>
          </a:xfrm>
          <a:prstGeom prst="rightArrow">
            <a:avLst/>
          </a:prstGeom>
          <a:solidFill>
            <a:schemeClr val="accent1"/>
          </a:solidFill>
          <a:ln/>
        </p:spPr>
      </p:sp>
      <p:sp>
        <p:nvSpPr>
          <p:cNvPr id="15" name="Shape 13"/>
          <p:cNvSpPr/>
          <p:nvPr/>
        </p:nvSpPr>
        <p:spPr>
          <a:xfrm>
            <a:off x="7223760" y="1097280"/>
            <a:ext cx="1463040" cy="868680"/>
          </a:xfrm>
          <a:prstGeom prst="roundRect">
            <a:avLst>
              <a:gd name="adj" fmla="val 12632"/>
            </a:avLst>
          </a:prstGeom>
          <a:solidFill>
            <a:schemeClr val="tx2"/>
          </a:solidFill>
          <a:ln/>
        </p:spPr>
      </p:sp>
      <p:sp>
        <p:nvSpPr>
          <p:cNvPr id="16" name="Text 14"/>
          <p:cNvSpPr txBox="1"/>
          <p:nvPr/>
        </p:nvSpPr>
        <p:spPr>
          <a:xfrm>
            <a:off x="7333488" y="1161288"/>
            <a:ext cx="1261872" cy="749808"/>
          </a:xfrm>
          <a:prstGeom prst="rect">
            <a:avLst/>
          </a:prstGeom>
          <a:noFill/>
          <a:ln/>
        </p:spPr>
        <p:txBody>
          <a:bodyPr wrap="square" lIns="0" tIns="0" rIns="0" bIns="0" rtlCol="0" anchor="t"/>
          <a:lstStyle/>
          <a:p>
            <a:pPr indent="0" marL="0">
              <a:buNone/>
            </a:pPr>
            <a:r>
              <a:rPr lang="en-US" sz="1400" b="1" dirty="0">
                <a:solidFill>
                  <a:schemeClr val="bg2"/>
                </a:solidFill>
              </a:rPr>
              <a:t>5</a:t>
            </a:r>
            <a:endParaRPr lang="en-US" sz="1400" dirty="0"/>
          </a:p>
          <a:p>
            <a:pPr indent="0" marL="0">
              <a:buNone/>
            </a:pPr>
            <a:r>
              <a:rPr lang="en-US" sz="1400" b="1" dirty="0">
                <a:solidFill>
                  <a:schemeClr val="bg1"/>
                </a:solidFill>
              </a:rPr>
              <a:t>Learn or prepare a summary</a:t>
            </a:r>
            <a:endParaRPr lang="en-US" sz="1400" dirty="0"/>
          </a:p>
        </p:txBody>
      </p:sp>
      <p:sp>
        <p:nvSpPr>
          <p:cNvPr id="17" name="Shape 15"/>
          <p:cNvSpPr/>
          <p:nvPr/>
        </p:nvSpPr>
        <p:spPr>
          <a:xfrm>
            <a:off x="457200" y="2240280"/>
            <a:ext cx="2651760" cy="2377440"/>
          </a:xfrm>
          <a:prstGeom prst="roundRect">
            <a:avLst>
              <a:gd name="adj" fmla="val 4615"/>
            </a:avLst>
          </a:prstGeom>
          <a:solidFill>
            <a:schemeClr val="bg2"/>
          </a:solidFill>
          <a:ln/>
        </p:spPr>
      </p:sp>
      <p:pic>
        <p:nvPicPr>
          <p:cNvPr id="18" name="Image 0" descr="Real screenshot of the Check screen">    </p:cNvPr>
          <p:cNvPicPr>
            <a:picLocks noChangeAspect="1"/>
          </p:cNvPicPr>
          <p:nvPr/>
        </p:nvPicPr>
        <p:blipFill>
          <a:blip r:embed="rId1"/>
          <a:stretch>
            <a:fillRect/>
          </a:stretch>
        </p:blipFill>
        <p:spPr>
          <a:xfrm>
            <a:off x="548640" y="2331720"/>
            <a:ext cx="2468880" cy="1234440"/>
          </a:xfrm>
          <a:prstGeom prst="rect">
            <a:avLst/>
          </a:prstGeom>
        </p:spPr>
      </p:pic>
      <p:sp>
        <p:nvSpPr>
          <p:cNvPr id="19" name="Text 16"/>
          <p:cNvSpPr txBox="1"/>
          <p:nvPr/>
        </p:nvSpPr>
        <p:spPr>
          <a:xfrm>
            <a:off x="594360" y="3639312"/>
            <a:ext cx="2377440" cy="274320"/>
          </a:xfrm>
          <a:prstGeom prst="rect">
            <a:avLst/>
          </a:prstGeom>
          <a:noFill/>
          <a:ln/>
        </p:spPr>
        <p:txBody>
          <a:bodyPr wrap="square" lIns="0" tIns="0" rIns="0" bIns="0" rtlCol="0" anchor="t"/>
          <a:lstStyle/>
          <a:p>
            <a:pPr indent="0" marL="0">
              <a:buNone/>
            </a:pPr>
            <a:r>
              <a:rPr lang="en-US" sz="1600" b="1" dirty="0">
                <a:solidFill>
                  <a:schemeClr val="tx2"/>
                </a:solidFill>
              </a:rPr>
              <a:t>Check</a:t>
            </a:r>
            <a:endParaRPr lang="en-US" sz="1600" dirty="0"/>
          </a:p>
        </p:txBody>
      </p:sp>
      <p:sp>
        <p:nvSpPr>
          <p:cNvPr id="20" name="Text 17"/>
          <p:cNvSpPr txBox="1"/>
          <p:nvPr/>
        </p:nvSpPr>
        <p:spPr>
          <a:xfrm>
            <a:off x="594360" y="3913632"/>
            <a:ext cx="2377440" cy="640080"/>
          </a:xfrm>
          <a:prstGeom prst="rect">
            <a:avLst/>
          </a:prstGeom>
          <a:noFill/>
          <a:ln/>
        </p:spPr>
        <p:txBody>
          <a:bodyPr wrap="square" lIns="0" tIns="0" rIns="0" bIns="0" rtlCol="0" anchor="t"/>
          <a:lstStyle/>
          <a:p>
            <a:pPr indent="0" marL="0">
              <a:buNone/>
            </a:pPr>
            <a:r>
              <a:rPr lang="en-US" sz="1400" dirty="0">
                <a:solidFill>
                  <a:schemeClr val="tx1"/>
                </a:solidFill>
              </a:rPr>
              <a:t>Paste text or a link. See each warning sign and why it matters.</a:t>
            </a:r>
            <a:endParaRPr lang="en-US" sz="1400" dirty="0"/>
          </a:p>
        </p:txBody>
      </p:sp>
      <p:sp>
        <p:nvSpPr>
          <p:cNvPr id="21" name="Shape 18"/>
          <p:cNvSpPr/>
          <p:nvPr/>
        </p:nvSpPr>
        <p:spPr>
          <a:xfrm>
            <a:off x="3246120" y="2240280"/>
            <a:ext cx="2651760" cy="2377440"/>
          </a:xfrm>
          <a:prstGeom prst="roundRect">
            <a:avLst>
              <a:gd name="adj" fmla="val 4615"/>
            </a:avLst>
          </a:prstGeom>
          <a:solidFill>
            <a:schemeClr val="bg2"/>
          </a:solidFill>
          <a:ln/>
        </p:spPr>
      </p:sp>
      <p:pic>
        <p:nvPicPr>
          <p:cNvPr id="22" name="Image 1" descr="Real screenshot of the Learn screen">    </p:cNvPr>
          <p:cNvPicPr>
            <a:picLocks noChangeAspect="1"/>
          </p:cNvPicPr>
          <p:nvPr/>
        </p:nvPicPr>
        <p:blipFill>
          <a:blip r:embed="rId2"/>
          <a:stretch>
            <a:fillRect/>
          </a:stretch>
        </p:blipFill>
        <p:spPr>
          <a:xfrm>
            <a:off x="3337560" y="2331720"/>
            <a:ext cx="2468880" cy="1234440"/>
          </a:xfrm>
          <a:prstGeom prst="rect">
            <a:avLst/>
          </a:prstGeom>
        </p:spPr>
      </p:pic>
      <p:sp>
        <p:nvSpPr>
          <p:cNvPr id="23" name="Text 19"/>
          <p:cNvSpPr txBox="1"/>
          <p:nvPr/>
        </p:nvSpPr>
        <p:spPr>
          <a:xfrm>
            <a:off x="3383280" y="3639312"/>
            <a:ext cx="2377440" cy="274320"/>
          </a:xfrm>
          <a:prstGeom prst="rect">
            <a:avLst/>
          </a:prstGeom>
          <a:noFill/>
          <a:ln/>
        </p:spPr>
        <p:txBody>
          <a:bodyPr wrap="square" lIns="0" tIns="0" rIns="0" bIns="0" rtlCol="0" anchor="t"/>
          <a:lstStyle/>
          <a:p>
            <a:pPr indent="0" marL="0">
              <a:buNone/>
            </a:pPr>
            <a:r>
              <a:rPr lang="en-US" sz="1600" b="1" dirty="0">
                <a:solidFill>
                  <a:schemeClr val="tx2"/>
                </a:solidFill>
              </a:rPr>
              <a:t>Learn</a:t>
            </a:r>
            <a:endParaRPr lang="en-US" sz="1600" dirty="0"/>
          </a:p>
        </p:txBody>
      </p:sp>
      <p:sp>
        <p:nvSpPr>
          <p:cNvPr id="24" name="Text 20"/>
          <p:cNvSpPr txBox="1"/>
          <p:nvPr/>
        </p:nvSpPr>
        <p:spPr>
          <a:xfrm>
            <a:off x="3383280" y="3913632"/>
            <a:ext cx="2377440" cy="640080"/>
          </a:xfrm>
          <a:prstGeom prst="rect">
            <a:avLst/>
          </a:prstGeom>
          <a:noFill/>
          <a:ln/>
        </p:spPr>
        <p:txBody>
          <a:bodyPr wrap="square" lIns="0" tIns="0" rIns="0" bIns="0" rtlCol="0" anchor="t"/>
          <a:lstStyle/>
          <a:p>
            <a:pPr indent="0" marL="0">
              <a:buNone/>
            </a:pPr>
            <a:r>
              <a:rPr lang="en-US" sz="1400" dirty="0">
                <a:solidFill>
                  <a:schemeClr val="tx1"/>
                </a:solidFill>
              </a:rPr>
              <a:t>9 fictional examples and a 7-question quiz with instant feedback.</a:t>
            </a:r>
            <a:endParaRPr lang="en-US" sz="1400" dirty="0"/>
          </a:p>
        </p:txBody>
      </p:sp>
      <p:sp>
        <p:nvSpPr>
          <p:cNvPr id="25" name="Shape 21"/>
          <p:cNvSpPr/>
          <p:nvPr/>
        </p:nvSpPr>
        <p:spPr>
          <a:xfrm>
            <a:off x="6035040" y="2240280"/>
            <a:ext cx="2651760" cy="2377440"/>
          </a:xfrm>
          <a:prstGeom prst="roundRect">
            <a:avLst>
              <a:gd name="adj" fmla="val 4615"/>
            </a:avLst>
          </a:prstGeom>
          <a:solidFill>
            <a:schemeClr val="bg2"/>
          </a:solidFill>
          <a:ln/>
        </p:spPr>
      </p:sp>
      <p:pic>
        <p:nvPicPr>
          <p:cNvPr id="26" name="Image 2" descr="Real screenshot of the Checklist screen">    </p:cNvPr>
          <p:cNvPicPr>
            <a:picLocks noChangeAspect="1"/>
          </p:cNvPicPr>
          <p:nvPr/>
        </p:nvPicPr>
        <p:blipFill>
          <a:blip r:embed="rId3"/>
          <a:stretch>
            <a:fillRect/>
          </a:stretch>
        </p:blipFill>
        <p:spPr>
          <a:xfrm>
            <a:off x="6126480" y="2331720"/>
            <a:ext cx="2468880" cy="1234440"/>
          </a:xfrm>
          <a:prstGeom prst="rect">
            <a:avLst/>
          </a:prstGeom>
        </p:spPr>
      </p:pic>
      <p:sp>
        <p:nvSpPr>
          <p:cNvPr id="27" name="Text 22"/>
          <p:cNvSpPr txBox="1"/>
          <p:nvPr/>
        </p:nvSpPr>
        <p:spPr>
          <a:xfrm>
            <a:off x="6172200" y="3639312"/>
            <a:ext cx="2377440" cy="274320"/>
          </a:xfrm>
          <a:prstGeom prst="rect">
            <a:avLst/>
          </a:prstGeom>
          <a:noFill/>
          <a:ln/>
        </p:spPr>
        <p:txBody>
          <a:bodyPr wrap="square" lIns="0" tIns="0" rIns="0" bIns="0" rtlCol="0" anchor="t"/>
          <a:lstStyle/>
          <a:p>
            <a:pPr indent="0" marL="0">
              <a:buNone/>
            </a:pPr>
            <a:r>
              <a:rPr lang="en-US" sz="1600" b="1" dirty="0">
                <a:solidFill>
                  <a:schemeClr val="tx2"/>
                </a:solidFill>
              </a:rPr>
              <a:t>Checklist</a:t>
            </a:r>
            <a:endParaRPr lang="en-US" sz="1600" dirty="0"/>
          </a:p>
        </p:txBody>
      </p:sp>
      <p:sp>
        <p:nvSpPr>
          <p:cNvPr id="28" name="Text 23"/>
          <p:cNvSpPr txBox="1"/>
          <p:nvPr/>
        </p:nvSpPr>
        <p:spPr>
          <a:xfrm>
            <a:off x="6172200" y="3913632"/>
            <a:ext cx="2377440" cy="640080"/>
          </a:xfrm>
          <a:prstGeom prst="rect">
            <a:avLst/>
          </a:prstGeom>
          <a:noFill/>
          <a:ln/>
        </p:spPr>
        <p:txBody>
          <a:bodyPr wrap="square" lIns="0" tIns="0" rIns="0" bIns="0" rtlCol="0" anchor="t"/>
          <a:lstStyle/>
          <a:p>
            <a:pPr indent="0" marL="0">
              <a:buNone/>
            </a:pPr>
            <a:r>
              <a:rPr lang="en-US" sz="1400" dirty="0">
                <a:solidFill>
                  <a:schemeClr val="tx1"/>
                </a:solidFill>
              </a:rPr>
              <a:t>Prepare a private summary to copy or download.</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Every warning sign is explained</a:t>
            </a:r>
            <a:endParaRPr lang="en-US" sz="3400" dirty="0"/>
          </a:p>
        </p:txBody>
      </p:sp>
      <p:sp>
        <p:nvSpPr>
          <p:cNvPr id="3" name="Shape 1"/>
          <p:cNvSpPr/>
          <p:nvPr/>
        </p:nvSpPr>
        <p:spPr>
          <a:xfrm>
            <a:off x="457200" y="1143000"/>
            <a:ext cx="4023360" cy="1645920"/>
          </a:xfrm>
          <a:prstGeom prst="roundRect">
            <a:avLst>
              <a:gd name="adj" fmla="val 6667"/>
            </a:avLst>
          </a:prstGeom>
          <a:solidFill>
            <a:schemeClr val="bg2"/>
          </a:solidFill>
          <a:ln/>
        </p:spPr>
      </p:sp>
      <p:sp>
        <p:nvSpPr>
          <p:cNvPr id="4" name="Text 2"/>
          <p:cNvSpPr txBox="1"/>
          <p:nvPr/>
        </p:nvSpPr>
        <p:spPr>
          <a:xfrm>
            <a:off x="640080" y="1252728"/>
            <a:ext cx="3657600" cy="201168"/>
          </a:xfrm>
          <a:prstGeom prst="rect">
            <a:avLst/>
          </a:prstGeom>
          <a:noFill/>
          <a:ln/>
        </p:spPr>
        <p:txBody>
          <a:bodyPr wrap="square" lIns="0" tIns="0" rIns="0" bIns="0" rtlCol="0" anchor="t"/>
          <a:lstStyle/>
          <a:p>
            <a:pPr indent="0" marL="0">
              <a:buNone/>
            </a:pPr>
            <a:r>
              <a:rPr lang="en-US" sz="1100" b="1" dirty="0">
                <a:solidFill>
                  <a:schemeClr val="accent1"/>
                </a:solidFill>
              </a:rPr>
              <a:t>FICTIONAL EXAMPLE, FOR EDUCATION ONLY</a:t>
            </a:r>
            <a:endParaRPr lang="en-US" sz="1100" dirty="0"/>
          </a:p>
        </p:txBody>
      </p:sp>
      <p:sp>
        <p:nvSpPr>
          <p:cNvPr id="5" name="Text 3"/>
          <p:cNvSpPr txBox="1"/>
          <p:nvPr/>
        </p:nvSpPr>
        <p:spPr>
          <a:xfrm>
            <a:off x="640080" y="1536192"/>
            <a:ext cx="3657600" cy="1188720"/>
          </a:xfrm>
          <a:prstGeom prst="rect">
            <a:avLst/>
          </a:prstGeom>
          <a:noFill/>
          <a:ln/>
        </p:spPr>
        <p:txBody>
          <a:bodyPr wrap="square" lIns="0" tIns="0" rIns="0" bIns="0" rtlCol="0" anchor="t"/>
          <a:lstStyle/>
          <a:p>
            <a:pPr indent="0" marL="0">
              <a:lnSpc>
                <a:spcPct val="105000"/>
              </a:lnSpc>
              <a:buNone/>
            </a:pPr>
            <a:r>
              <a:rPr lang="en-US" sz="1500" dirty="0">
                <a:solidFill>
                  <a:schemeClr val="tx1"/>
                </a:solidFill>
              </a:rPr>
              <a:t>This is the </a:t>
            </a:r>
            <a:pPr indent="0" marL="0">
              <a:lnSpc>
                <a:spcPct val="105000"/>
              </a:lnSpc>
              <a:buNone/>
            </a:pPr>
            <a:r>
              <a:rPr lang="en-US" sz="1500" b="1" dirty="0">
                <a:solidFill>
                  <a:schemeClr val="accent4"/>
                </a:solidFill>
                <a:highlight>
                  <a:srgbClr val="E3EEF6"/>
                </a:highlight>
              </a:rPr>
              <a:t>fraud team from your bank</a:t>
            </a:r>
            <a:pPr indent="0" marL="0">
              <a:lnSpc>
                <a:spcPct val="105000"/>
              </a:lnSpc>
              <a:buNone/>
            </a:pPr>
            <a:r>
              <a:rPr lang="en-US" sz="1500" dirty="0">
                <a:solidFill>
                  <a:schemeClr val="tx1"/>
                </a:solidFill>
              </a:rPr>
              <a:t>. We noticed a suspicious payment. </a:t>
            </a:r>
            <a:pPr indent="0" marL="0">
              <a:lnSpc>
                <a:spcPct val="105000"/>
              </a:lnSpc>
              <a:buNone/>
            </a:pPr>
            <a:r>
              <a:rPr lang="en-US" sz="1500" b="1" dirty="0">
                <a:solidFill>
                  <a:schemeClr val="accent3"/>
                </a:solidFill>
                <a:highlight>
                  <a:srgbClr val="FDECEB"/>
                </a:highlight>
              </a:rPr>
              <a:t>Share the OTP</a:t>
            </a:r>
            <a:pPr indent="0" marL="0">
              <a:lnSpc>
                <a:spcPct val="105000"/>
              </a:lnSpc>
              <a:buNone/>
            </a:pPr>
            <a:r>
              <a:rPr lang="en-US" sz="1500" dirty="0">
                <a:solidFill>
                  <a:schemeClr val="tx1"/>
                </a:solidFill>
              </a:rPr>
              <a:t> you just received to cancel it. </a:t>
            </a:r>
            <a:pPr indent="0" marL="0">
              <a:lnSpc>
                <a:spcPct val="105000"/>
              </a:lnSpc>
              <a:buNone/>
            </a:pPr>
            <a:r>
              <a:rPr lang="en-US" sz="1500" b="1" dirty="0">
                <a:solidFill>
                  <a:schemeClr val="accent2"/>
                </a:solidFill>
                <a:highlight>
                  <a:srgbClr val="FFF4DE"/>
                </a:highlight>
              </a:rPr>
              <a:t>Your card will be blocked</a:t>
            </a:r>
            <a:pPr indent="0" marL="0">
              <a:lnSpc>
                <a:spcPct val="105000"/>
              </a:lnSpc>
              <a:buNone/>
            </a:pPr>
            <a:r>
              <a:rPr lang="en-US" sz="1500" dirty="0">
                <a:solidFill>
                  <a:schemeClr val="tx1"/>
                </a:solidFill>
              </a:rPr>
              <a:t>. </a:t>
            </a:r>
            <a:pPr indent="0" marL="0">
              <a:lnSpc>
                <a:spcPct val="105000"/>
              </a:lnSpc>
              <a:buNone/>
            </a:pPr>
            <a:r>
              <a:rPr lang="en-US" sz="1500" b="1" dirty="0">
                <a:solidFill>
                  <a:schemeClr val="accent2"/>
                </a:solidFill>
                <a:highlight>
                  <a:srgbClr val="FFF4DE"/>
                </a:highlight>
              </a:rPr>
              <a:t>Reply immediately</a:t>
            </a:r>
            <a:pPr indent="0" marL="0">
              <a:lnSpc>
                <a:spcPct val="105000"/>
              </a:lnSpc>
              <a:buNone/>
            </a:pPr>
            <a:r>
              <a:rPr lang="en-US" sz="1500" dirty="0">
                <a:solidFill>
                  <a:schemeClr val="tx1"/>
                </a:solidFill>
              </a:rPr>
              <a:t>.</a:t>
            </a:r>
            <a:endParaRPr lang="en-US" sz="1500" dirty="0"/>
          </a:p>
        </p:txBody>
      </p:sp>
      <p:sp>
        <p:nvSpPr>
          <p:cNvPr id="6" name="Shape 4"/>
          <p:cNvSpPr/>
          <p:nvPr/>
        </p:nvSpPr>
        <p:spPr>
          <a:xfrm>
            <a:off x="457200" y="2990088"/>
            <a:ext cx="146304" cy="146304"/>
          </a:xfrm>
          <a:prstGeom prst="ellipse">
            <a:avLst/>
          </a:prstGeom>
          <a:solidFill>
            <a:schemeClr val="accent3"/>
          </a:solidFill>
          <a:ln/>
        </p:spPr>
      </p:sp>
      <p:sp>
        <p:nvSpPr>
          <p:cNvPr id="7" name="Text 5"/>
          <p:cNvSpPr txBox="1"/>
          <p:nvPr/>
        </p:nvSpPr>
        <p:spPr>
          <a:xfrm>
            <a:off x="676656" y="2944368"/>
            <a:ext cx="1097280" cy="237744"/>
          </a:xfrm>
          <a:prstGeom prst="rect">
            <a:avLst/>
          </a:prstGeom>
          <a:noFill/>
          <a:ln/>
        </p:spPr>
        <p:txBody>
          <a:bodyPr wrap="square" lIns="0" tIns="0" rIns="0" bIns="0" rtlCol="0" anchor="ctr"/>
          <a:lstStyle/>
          <a:p>
            <a:pPr indent="0" marL="0">
              <a:buNone/>
            </a:pPr>
            <a:r>
              <a:rPr lang="en-US" sz="1200" dirty="0">
                <a:solidFill>
                  <a:schemeClr val="tx1"/>
                </a:solidFill>
              </a:rPr>
              <a:t>Strong sign</a:t>
            </a:r>
            <a:endParaRPr lang="en-US" sz="1200" dirty="0"/>
          </a:p>
        </p:txBody>
      </p:sp>
      <p:sp>
        <p:nvSpPr>
          <p:cNvPr id="8" name="Shape 6"/>
          <p:cNvSpPr/>
          <p:nvPr/>
        </p:nvSpPr>
        <p:spPr>
          <a:xfrm>
            <a:off x="1828800" y="2990088"/>
            <a:ext cx="146304" cy="146304"/>
          </a:xfrm>
          <a:prstGeom prst="ellipse">
            <a:avLst/>
          </a:prstGeom>
          <a:solidFill>
            <a:schemeClr val="accent2"/>
          </a:solidFill>
          <a:ln/>
        </p:spPr>
      </p:sp>
      <p:sp>
        <p:nvSpPr>
          <p:cNvPr id="9" name="Text 7"/>
          <p:cNvSpPr txBox="1"/>
          <p:nvPr/>
        </p:nvSpPr>
        <p:spPr>
          <a:xfrm>
            <a:off x="2048256" y="2944368"/>
            <a:ext cx="1097280" cy="237744"/>
          </a:xfrm>
          <a:prstGeom prst="rect">
            <a:avLst/>
          </a:prstGeom>
          <a:noFill/>
          <a:ln/>
        </p:spPr>
        <p:txBody>
          <a:bodyPr wrap="square" lIns="0" tIns="0" rIns="0" bIns="0" rtlCol="0" anchor="ctr"/>
          <a:lstStyle/>
          <a:p>
            <a:pPr indent="0" marL="0">
              <a:buNone/>
            </a:pPr>
            <a:r>
              <a:rPr lang="en-US" sz="1200" dirty="0">
                <a:solidFill>
                  <a:schemeClr val="tx1"/>
                </a:solidFill>
              </a:rPr>
              <a:t>Moderate</a:t>
            </a:r>
            <a:endParaRPr lang="en-US" sz="1200" dirty="0"/>
          </a:p>
        </p:txBody>
      </p:sp>
      <p:sp>
        <p:nvSpPr>
          <p:cNvPr id="10" name="Shape 8"/>
          <p:cNvSpPr/>
          <p:nvPr/>
        </p:nvSpPr>
        <p:spPr>
          <a:xfrm>
            <a:off x="3200400" y="2990088"/>
            <a:ext cx="146304" cy="146304"/>
          </a:xfrm>
          <a:prstGeom prst="ellipse">
            <a:avLst/>
          </a:prstGeom>
          <a:solidFill>
            <a:schemeClr val="accent4"/>
          </a:solidFill>
          <a:ln/>
        </p:spPr>
      </p:sp>
      <p:sp>
        <p:nvSpPr>
          <p:cNvPr id="11" name="Text 9"/>
          <p:cNvSpPr txBox="1"/>
          <p:nvPr/>
        </p:nvSpPr>
        <p:spPr>
          <a:xfrm>
            <a:off x="3419856" y="2944368"/>
            <a:ext cx="1097280" cy="237744"/>
          </a:xfrm>
          <a:prstGeom prst="rect">
            <a:avLst/>
          </a:prstGeom>
          <a:noFill/>
          <a:ln/>
        </p:spPr>
        <p:txBody>
          <a:bodyPr wrap="square" lIns="0" tIns="0" rIns="0" bIns="0" rtlCol="0" anchor="ctr"/>
          <a:lstStyle/>
          <a:p>
            <a:pPr indent="0" marL="0">
              <a:buNone/>
            </a:pPr>
            <a:r>
              <a:rPr lang="en-US" sz="1200" dirty="0">
                <a:solidFill>
                  <a:schemeClr val="tx1"/>
                </a:solidFill>
              </a:rPr>
              <a:t>Minor</a:t>
            </a:r>
            <a:endParaRPr lang="en-US" sz="1200" dirty="0"/>
          </a:p>
        </p:txBody>
      </p:sp>
      <p:sp>
        <p:nvSpPr>
          <p:cNvPr id="12" name="Shape 10"/>
          <p:cNvSpPr/>
          <p:nvPr/>
        </p:nvSpPr>
        <p:spPr>
          <a:xfrm>
            <a:off x="457200" y="3291840"/>
            <a:ext cx="4023360" cy="1325880"/>
          </a:xfrm>
          <a:prstGeom prst="roundRect">
            <a:avLst>
              <a:gd name="adj" fmla="val 8276"/>
            </a:avLst>
          </a:prstGeom>
          <a:solidFill>
            <a:schemeClr val="tx2"/>
          </a:solidFill>
          <a:ln/>
        </p:spPr>
      </p:sp>
      <p:sp>
        <p:nvSpPr>
          <p:cNvPr id="13" name="Text 11"/>
          <p:cNvSpPr txBox="1"/>
          <p:nvPr/>
        </p:nvSpPr>
        <p:spPr>
          <a:xfrm>
            <a:off x="640080" y="3401568"/>
            <a:ext cx="3657600" cy="11430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Then it shows safe next steps</a:t>
            </a:r>
            <a:endParaRPr lang="en-US" sz="1400" dirty="0"/>
          </a:p>
          <a:p>
            <a:pPr marL="342900" indent="-342900">
              <a:spcAft>
                <a:spcPts val="300"/>
              </a:spcAft>
              <a:buSzPct val="100000"/>
              <a:buChar char="•"/>
            </a:pPr>
            <a:r>
              <a:rPr lang="en-US" sz="1400" dirty="0">
                <a:solidFill>
                  <a:schemeClr val="bg1"/>
                </a:solidFill>
              </a:rPr>
              <a:t>Do not share the code</a:t>
            </a:r>
            <a:endParaRPr lang="en-US" sz="1400" dirty="0"/>
          </a:p>
          <a:p>
            <a:pPr marL="342900" indent="-342900">
              <a:spcAft>
                <a:spcPts val="300"/>
              </a:spcAft>
              <a:buSzPct val="100000"/>
              <a:buChar char="•"/>
            </a:pPr>
            <a:r>
              <a:rPr lang="en-US" sz="1400" dirty="0">
                <a:solidFill>
                  <a:schemeClr val="bg1"/>
                </a:solidFill>
              </a:rPr>
              <a:t>Verify using a number you find yourself</a:t>
            </a:r>
            <a:endParaRPr lang="en-US" sz="1400" dirty="0"/>
          </a:p>
          <a:p>
            <a:pPr marL="342900" indent="-342900">
              <a:spcAft>
                <a:spcPts val="300"/>
              </a:spcAft>
              <a:buSzPct val="100000"/>
              <a:buChar char="•"/>
            </a:pPr>
            <a:r>
              <a:rPr lang="en-US" sz="1400" dirty="0">
                <a:solidFill>
                  <a:schemeClr val="bg1"/>
                </a:solidFill>
              </a:rPr>
              <a:t>If money was sent, contact your bank</a:t>
            </a:r>
            <a:endParaRPr lang="en-US" sz="1400" dirty="0"/>
          </a:p>
        </p:txBody>
      </p:sp>
      <p:pic>
        <p:nvPicPr>
          <p:cNvPr id="14" name="Image 0" descr="Real screenshot: High caution label with matched evidence, why it matters and what you can do">    </p:cNvPr>
          <p:cNvPicPr>
            <a:picLocks noChangeAspect="1"/>
          </p:cNvPicPr>
          <p:nvPr/>
        </p:nvPicPr>
        <p:blipFill>
          <a:blip r:embed="rId1"/>
          <a:stretch>
            <a:fillRect/>
          </a:stretch>
        </p:blipFill>
        <p:spPr>
          <a:xfrm>
            <a:off x="4709160" y="1143000"/>
            <a:ext cx="3840480" cy="3339728"/>
          </a:xfrm>
          <a:prstGeom prst="rect">
            <a:avLst/>
          </a:prstGeom>
        </p:spPr>
      </p:pic>
      <p:sp>
        <p:nvSpPr>
          <p:cNvPr id="15" name="Text 12"/>
          <p:cNvSpPr txBox="1"/>
          <p:nvPr/>
        </p:nvSpPr>
        <p:spPr>
          <a:xfrm>
            <a:off x="4709160" y="4553712"/>
            <a:ext cx="3977640" cy="182880"/>
          </a:xfrm>
          <a:prstGeom prst="rect">
            <a:avLst/>
          </a:prstGeom>
          <a:noFill/>
          <a:ln/>
        </p:spPr>
        <p:txBody>
          <a:bodyPr wrap="square" lIns="0" tIns="0" rIns="0" bIns="0" rtlCol="0" anchor="t"/>
          <a:lstStyle/>
          <a:p>
            <a:pPr indent="0" marL="0">
              <a:buNone/>
            </a:pPr>
            <a:r>
              <a:rPr lang="en-US" sz="1000" dirty="0">
                <a:solidFill>
                  <a:schemeClr val="accent5"/>
                </a:solidFill>
              </a:rPr>
              <a:t>Real screenshot of the prototype. The label is triage guidance, not a verdict.</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Private by design</a:t>
            </a:r>
            <a:endParaRPr lang="en-US" sz="3400" dirty="0"/>
          </a:p>
        </p:txBody>
      </p:sp>
      <p:sp>
        <p:nvSpPr>
          <p:cNvPr id="3" name="Shape 1"/>
          <p:cNvSpPr/>
          <p:nvPr/>
        </p:nvSpPr>
        <p:spPr>
          <a:xfrm>
            <a:off x="457200" y="1097280"/>
            <a:ext cx="4754880" cy="384048"/>
          </a:xfrm>
          <a:prstGeom prst="roundRect">
            <a:avLst>
              <a:gd name="adj" fmla="val 28571"/>
            </a:avLst>
          </a:prstGeom>
          <a:solidFill>
            <a:schemeClr val="bg2"/>
          </a:solidFill>
          <a:ln/>
        </p:spPr>
      </p:sp>
      <p:sp>
        <p:nvSpPr>
          <p:cNvPr id="4" name="Text 2"/>
          <p:cNvSpPr txBox="1"/>
          <p:nvPr/>
        </p:nvSpPr>
        <p:spPr>
          <a:xfrm>
            <a:off x="594360" y="1097280"/>
            <a:ext cx="4480560" cy="384048"/>
          </a:xfrm>
          <a:prstGeom prst="rect">
            <a:avLst/>
          </a:prstGeom>
          <a:noFill/>
          <a:ln/>
        </p:spPr>
        <p:txBody>
          <a:bodyPr wrap="square" lIns="0" tIns="0" rIns="0" bIns="0" rtlCol="0" anchor="ctr"/>
          <a:lstStyle/>
          <a:p>
            <a:pPr indent="0" marL="0">
              <a:buNone/>
            </a:pPr>
            <a:r>
              <a:rPr lang="en-US" sz="1200" b="1" dirty="0">
                <a:solidFill>
                  <a:schemeClr val="tx2"/>
                </a:solidFill>
              </a:rPr>
              <a:t>Static file server: sends the app files, receives nothing</a:t>
            </a:r>
            <a:endParaRPr lang="en-US" sz="1200" dirty="0"/>
          </a:p>
        </p:txBody>
      </p:sp>
      <p:sp>
        <p:nvSpPr>
          <p:cNvPr id="5" name="Shape 3"/>
          <p:cNvSpPr/>
          <p:nvPr/>
        </p:nvSpPr>
        <p:spPr>
          <a:xfrm>
            <a:off x="2834640" y="1499616"/>
            <a:ext cx="0" cy="182880"/>
          </a:xfrm>
          <a:prstGeom prst="line">
            <a:avLst/>
          </a:prstGeom>
          <a:noFill/>
          <a:ln w="19050">
            <a:solidFill>
              <a:schemeClr val="accent5"/>
            </a:solidFill>
            <a:prstDash val="solid"/>
            <a:tailEnd type="triangle"/>
          </a:ln>
        </p:spPr>
      </p:sp>
      <p:sp>
        <p:nvSpPr>
          <p:cNvPr id="6" name="Shape 4"/>
          <p:cNvSpPr/>
          <p:nvPr/>
        </p:nvSpPr>
        <p:spPr>
          <a:xfrm>
            <a:off x="457200" y="1719072"/>
            <a:ext cx="4754880" cy="2898648"/>
          </a:xfrm>
          <a:prstGeom prst="roundRect">
            <a:avLst>
              <a:gd name="adj" fmla="val 3785"/>
            </a:avLst>
          </a:prstGeom>
          <a:solidFill>
            <a:schemeClr val="bg1"/>
          </a:solidFill>
          <a:ln w="25400">
            <a:solidFill>
              <a:schemeClr val="accent1"/>
            </a:solidFill>
            <a:prstDash val="dash"/>
          </a:ln>
        </p:spPr>
      </p:sp>
      <p:sp>
        <p:nvSpPr>
          <p:cNvPr id="7" name="Text 5"/>
          <p:cNvSpPr txBox="1"/>
          <p:nvPr/>
        </p:nvSpPr>
        <p:spPr>
          <a:xfrm>
            <a:off x="640080" y="1792224"/>
            <a:ext cx="4389120" cy="219456"/>
          </a:xfrm>
          <a:prstGeom prst="rect">
            <a:avLst/>
          </a:prstGeom>
          <a:noFill/>
          <a:ln/>
        </p:spPr>
        <p:txBody>
          <a:bodyPr wrap="square" lIns="0" tIns="0" rIns="0" bIns="0" rtlCol="0" anchor="t"/>
          <a:lstStyle/>
          <a:p>
            <a:pPr indent="0" marL="0">
              <a:buNone/>
            </a:pPr>
            <a:r>
              <a:rPr lang="en-US" sz="1100" b="1" dirty="0">
                <a:solidFill>
                  <a:schemeClr val="accent1"/>
                </a:solidFill>
              </a:rPr>
              <a:t>YOUR DEVICE: every check runs here</a:t>
            </a:r>
            <a:endParaRPr lang="en-US" sz="1100" dirty="0"/>
          </a:p>
        </p:txBody>
      </p:sp>
      <p:sp>
        <p:nvSpPr>
          <p:cNvPr id="8" name="Shape 6"/>
          <p:cNvSpPr/>
          <p:nvPr/>
        </p:nvSpPr>
        <p:spPr>
          <a:xfrm>
            <a:off x="640080" y="2103120"/>
            <a:ext cx="4389120" cy="658368"/>
          </a:xfrm>
          <a:prstGeom prst="roundRect">
            <a:avLst>
              <a:gd name="adj" fmla="val 16667"/>
            </a:avLst>
          </a:prstGeom>
          <a:solidFill>
            <a:schemeClr val="tx2"/>
          </a:solidFill>
          <a:ln/>
        </p:spPr>
      </p:sp>
      <p:sp>
        <p:nvSpPr>
          <p:cNvPr id="9" name="Text 7"/>
          <p:cNvSpPr txBox="1"/>
          <p:nvPr/>
        </p:nvSpPr>
        <p:spPr>
          <a:xfrm>
            <a:off x="777240" y="2157984"/>
            <a:ext cx="4114800" cy="548640"/>
          </a:xfrm>
          <a:prstGeom prst="rect">
            <a:avLst/>
          </a:prstGeom>
          <a:noFill/>
          <a:ln/>
        </p:spPr>
        <p:txBody>
          <a:bodyPr wrap="square" lIns="0" tIns="0" rIns="0" bIns="0" rtlCol="0" anchor="ctr"/>
          <a:lstStyle/>
          <a:p>
            <a:pPr indent="0" marL="0">
              <a:buNone/>
            </a:pPr>
            <a:r>
              <a:rPr lang="en-US" sz="1400" b="1" dirty="0">
                <a:solidFill>
                  <a:schemeClr val="bg1"/>
                </a:solidFill>
              </a:rPr>
              <a:t>Interface</a:t>
            </a:r>
            <a:endParaRPr lang="en-US" sz="1400" dirty="0"/>
          </a:p>
          <a:p>
            <a:pPr indent="0" marL="0">
              <a:buNone/>
            </a:pPr>
            <a:r>
              <a:rPr lang="en-US" sz="1200" dirty="0">
                <a:solidFill>
                  <a:schemeClr val="bg1"/>
                </a:solidFill>
              </a:rPr>
              <a:t>Check, Learn, Checklist, Privacy</a:t>
            </a:r>
            <a:endParaRPr lang="en-US" sz="1400" dirty="0"/>
          </a:p>
        </p:txBody>
      </p:sp>
      <p:sp>
        <p:nvSpPr>
          <p:cNvPr id="10" name="Shape 8"/>
          <p:cNvSpPr/>
          <p:nvPr/>
        </p:nvSpPr>
        <p:spPr>
          <a:xfrm>
            <a:off x="1325880" y="2779776"/>
            <a:ext cx="0" cy="347472"/>
          </a:xfrm>
          <a:prstGeom prst="line">
            <a:avLst/>
          </a:prstGeom>
          <a:noFill/>
          <a:ln w="19050">
            <a:solidFill>
              <a:schemeClr val="accent1"/>
            </a:solidFill>
            <a:prstDash val="solid"/>
            <a:tailEnd type="triangle"/>
          </a:ln>
        </p:spPr>
      </p:sp>
      <p:sp>
        <p:nvSpPr>
          <p:cNvPr id="11" name="Shape 9"/>
          <p:cNvSpPr/>
          <p:nvPr/>
        </p:nvSpPr>
        <p:spPr>
          <a:xfrm>
            <a:off x="640080" y="3154680"/>
            <a:ext cx="1371600" cy="1325880"/>
          </a:xfrm>
          <a:prstGeom prst="roundRect">
            <a:avLst>
              <a:gd name="adj" fmla="val 8276"/>
            </a:avLst>
          </a:prstGeom>
          <a:solidFill>
            <a:schemeClr val="bg2"/>
          </a:solidFill>
          <a:ln/>
        </p:spPr>
      </p:sp>
      <p:sp>
        <p:nvSpPr>
          <p:cNvPr id="12" name="Text 10"/>
          <p:cNvSpPr txBox="1"/>
          <p:nvPr/>
        </p:nvSpPr>
        <p:spPr>
          <a:xfrm>
            <a:off x="731520" y="3218688"/>
            <a:ext cx="1188720" cy="1188720"/>
          </a:xfrm>
          <a:prstGeom prst="rect">
            <a:avLst/>
          </a:prstGeom>
          <a:noFill/>
          <a:ln/>
        </p:spPr>
        <p:txBody>
          <a:bodyPr wrap="square" lIns="0" tIns="0" rIns="0" bIns="0" rtlCol="0" anchor="t"/>
          <a:lstStyle/>
          <a:p>
            <a:pPr indent="0" marL="0">
              <a:buNone/>
            </a:pPr>
            <a:r>
              <a:rPr lang="en-US" sz="1300" b="1" dirty="0">
                <a:solidFill>
                  <a:schemeClr val="tx2"/>
                </a:solidFill>
              </a:rPr>
              <a:t>Local analysis engine</a:t>
            </a:r>
            <a:endParaRPr lang="en-US" sz="1400" dirty="0"/>
          </a:p>
          <a:p>
            <a:pPr indent="0" marL="0">
              <a:buNone/>
            </a:pPr>
            <a:r>
              <a:rPr lang="en-US" sz="1100" dirty="0">
                <a:solidFill>
                  <a:schemeClr val="tx1"/>
                </a:solidFill>
              </a:rPr>
              <a:t>Message rules and link parsing</a:t>
            </a:r>
            <a:endParaRPr lang="en-US" sz="1400" dirty="0"/>
          </a:p>
        </p:txBody>
      </p:sp>
      <p:sp>
        <p:nvSpPr>
          <p:cNvPr id="13" name="Shape 11"/>
          <p:cNvSpPr/>
          <p:nvPr/>
        </p:nvSpPr>
        <p:spPr>
          <a:xfrm>
            <a:off x="2834640" y="2779776"/>
            <a:ext cx="0" cy="347472"/>
          </a:xfrm>
          <a:prstGeom prst="line">
            <a:avLst/>
          </a:prstGeom>
          <a:noFill/>
          <a:ln w="19050">
            <a:solidFill>
              <a:schemeClr val="accent1"/>
            </a:solidFill>
            <a:prstDash val="solid"/>
            <a:tailEnd type="triangle"/>
          </a:ln>
        </p:spPr>
      </p:sp>
      <p:sp>
        <p:nvSpPr>
          <p:cNvPr id="14" name="Shape 12"/>
          <p:cNvSpPr/>
          <p:nvPr/>
        </p:nvSpPr>
        <p:spPr>
          <a:xfrm>
            <a:off x="2148840" y="3154680"/>
            <a:ext cx="1371600" cy="1325880"/>
          </a:xfrm>
          <a:prstGeom prst="roundRect">
            <a:avLst>
              <a:gd name="adj" fmla="val 8276"/>
            </a:avLst>
          </a:prstGeom>
          <a:solidFill>
            <a:schemeClr val="bg2"/>
          </a:solidFill>
          <a:ln/>
        </p:spPr>
      </p:sp>
      <p:sp>
        <p:nvSpPr>
          <p:cNvPr id="15" name="Text 13"/>
          <p:cNvSpPr txBox="1"/>
          <p:nvPr/>
        </p:nvSpPr>
        <p:spPr>
          <a:xfrm>
            <a:off x="2240280" y="3218688"/>
            <a:ext cx="1188720" cy="1188720"/>
          </a:xfrm>
          <a:prstGeom prst="rect">
            <a:avLst/>
          </a:prstGeom>
          <a:noFill/>
          <a:ln/>
        </p:spPr>
        <p:txBody>
          <a:bodyPr wrap="square" lIns="0" tIns="0" rIns="0" bIns="0" rtlCol="0" anchor="t"/>
          <a:lstStyle/>
          <a:p>
            <a:pPr indent="0" marL="0">
              <a:buNone/>
            </a:pPr>
            <a:r>
              <a:rPr lang="en-US" sz="1300" b="1" dirty="0">
                <a:solidFill>
                  <a:schemeClr val="tx2"/>
                </a:solidFill>
              </a:rPr>
              <a:t>Learning content</a:t>
            </a:r>
            <a:endParaRPr lang="en-US" sz="1400" dirty="0"/>
          </a:p>
          <a:p>
            <a:pPr indent="0" marL="0">
              <a:buNone/>
            </a:pPr>
            <a:r>
              <a:rPr lang="en-US" sz="1100" dirty="0">
                <a:solidFill>
                  <a:schemeClr val="tx1"/>
                </a:solidFill>
              </a:rPr>
              <a:t>Examples and quiz</a:t>
            </a:r>
            <a:endParaRPr lang="en-US" sz="1400" dirty="0"/>
          </a:p>
        </p:txBody>
      </p:sp>
      <p:sp>
        <p:nvSpPr>
          <p:cNvPr id="16" name="Shape 14"/>
          <p:cNvSpPr/>
          <p:nvPr/>
        </p:nvSpPr>
        <p:spPr>
          <a:xfrm>
            <a:off x="4343400" y="2779776"/>
            <a:ext cx="0" cy="347472"/>
          </a:xfrm>
          <a:prstGeom prst="line">
            <a:avLst/>
          </a:prstGeom>
          <a:noFill/>
          <a:ln w="19050">
            <a:solidFill>
              <a:schemeClr val="accent1"/>
            </a:solidFill>
            <a:prstDash val="solid"/>
            <a:tailEnd type="triangle"/>
          </a:ln>
        </p:spPr>
      </p:sp>
      <p:sp>
        <p:nvSpPr>
          <p:cNvPr id="17" name="Shape 15"/>
          <p:cNvSpPr/>
          <p:nvPr/>
        </p:nvSpPr>
        <p:spPr>
          <a:xfrm>
            <a:off x="3657600" y="3154680"/>
            <a:ext cx="1371600" cy="1325880"/>
          </a:xfrm>
          <a:prstGeom prst="roundRect">
            <a:avLst>
              <a:gd name="adj" fmla="val 8276"/>
            </a:avLst>
          </a:prstGeom>
          <a:solidFill>
            <a:schemeClr val="bg2"/>
          </a:solidFill>
          <a:ln/>
        </p:spPr>
      </p:sp>
      <p:sp>
        <p:nvSpPr>
          <p:cNvPr id="18" name="Text 16"/>
          <p:cNvSpPr txBox="1"/>
          <p:nvPr/>
        </p:nvSpPr>
        <p:spPr>
          <a:xfrm>
            <a:off x="3749040" y="3218688"/>
            <a:ext cx="1188720" cy="1188720"/>
          </a:xfrm>
          <a:prstGeom prst="rect">
            <a:avLst/>
          </a:prstGeom>
          <a:noFill/>
          <a:ln/>
        </p:spPr>
        <p:txBody>
          <a:bodyPr wrap="square" lIns="0" tIns="0" rIns="0" bIns="0" rtlCol="0" anchor="t"/>
          <a:lstStyle/>
          <a:p>
            <a:pPr indent="0" marL="0">
              <a:buNone/>
            </a:pPr>
            <a:r>
              <a:rPr lang="en-US" sz="1300" b="1" dirty="0">
                <a:solidFill>
                  <a:schemeClr val="tx2"/>
                </a:solidFill>
              </a:rPr>
              <a:t>Local storage</a:t>
            </a:r>
            <a:endParaRPr lang="en-US" sz="1400" dirty="0"/>
          </a:p>
          <a:p>
            <a:pPr indent="0" marL="0">
              <a:buNone/>
            </a:pPr>
            <a:r>
              <a:rPr lang="en-US" sz="1100" dirty="0">
                <a:solidFill>
                  <a:schemeClr val="tx1"/>
                </a:solidFill>
              </a:rPr>
              <a:t>Opt-in only: text size, saved examples</a:t>
            </a:r>
            <a:endParaRPr lang="en-US" sz="1400" dirty="0"/>
          </a:p>
        </p:txBody>
      </p:sp>
      <p:sp>
        <p:nvSpPr>
          <p:cNvPr id="19" name="Shape 17"/>
          <p:cNvSpPr/>
          <p:nvPr/>
        </p:nvSpPr>
        <p:spPr>
          <a:xfrm>
            <a:off x="5532120" y="1216152"/>
            <a:ext cx="502920" cy="502920"/>
          </a:xfrm>
          <a:prstGeom prst="ellipse">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5657850" y="1341882"/>
            <a:ext cx="251460" cy="251460"/>
          </a:xfrm>
          <a:prstGeom prst="rect">
            <a:avLst/>
          </a:prstGeom>
        </p:spPr>
      </p:pic>
      <p:sp>
        <p:nvSpPr>
          <p:cNvPr id="21" name="Text 18"/>
          <p:cNvSpPr txBox="1"/>
          <p:nvPr/>
        </p:nvSpPr>
        <p:spPr>
          <a:xfrm>
            <a:off x="6172200" y="1143000"/>
            <a:ext cx="2514600" cy="731520"/>
          </a:xfrm>
          <a:prstGeom prst="rect">
            <a:avLst/>
          </a:prstGeom>
          <a:noFill/>
          <a:ln/>
        </p:spPr>
        <p:txBody>
          <a:bodyPr wrap="square" lIns="0" tIns="0" rIns="0" bIns="0" rtlCol="0" anchor="ctr"/>
          <a:lstStyle/>
          <a:p>
            <a:pPr indent="0" marL="0">
              <a:buNone/>
            </a:pPr>
            <a:r>
              <a:rPr lang="en-US" sz="1400" b="1" dirty="0">
                <a:solidFill>
                  <a:schemeClr val="tx2"/>
                </a:solidFill>
              </a:rPr>
              <a:t>Stays on your device</a:t>
            </a:r>
            <a:endParaRPr lang="en-US" sz="1400" dirty="0"/>
          </a:p>
          <a:p>
            <a:pPr indent="0" marL="0">
              <a:buNone/>
            </a:pPr>
            <a:r>
              <a:rPr lang="en-US" sz="1200" dirty="0">
                <a:solidFill>
                  <a:schemeClr val="tx1"/>
                </a:solidFill>
              </a:rPr>
              <a:t>No uploads, accounts or analytics</a:t>
            </a:r>
            <a:endParaRPr lang="en-US" sz="1400" dirty="0"/>
          </a:p>
        </p:txBody>
      </p:sp>
      <p:sp>
        <p:nvSpPr>
          <p:cNvPr id="22" name="Shape 19"/>
          <p:cNvSpPr/>
          <p:nvPr/>
        </p:nvSpPr>
        <p:spPr>
          <a:xfrm>
            <a:off x="5532120" y="2066544"/>
            <a:ext cx="502920" cy="502920"/>
          </a:xfrm>
          <a:prstGeom prst="ellipse">
            <a:avLst/>
          </a:prstGeom>
          <a:solidFill>
            <a:schemeClr val="accent1"/>
          </a:solidFill>
          <a:ln/>
        </p:spPr>
      </p:sp>
      <p:pic>
        <p:nvPicPr>
          <p:cNvPr id="23" name="Image 1" descr="preencoded.png">    </p:cNvPr>
          <p:cNvPicPr>
            <a:picLocks noChangeAspect="1"/>
          </p:cNvPicPr>
          <p:nvPr/>
        </p:nvPicPr>
        <p:blipFill>
          <a:blip r:embed="rId2"/>
          <a:stretch>
            <a:fillRect/>
          </a:stretch>
        </p:blipFill>
        <p:spPr>
          <a:xfrm>
            <a:off x="5657850" y="2192274"/>
            <a:ext cx="251460" cy="251460"/>
          </a:xfrm>
          <a:prstGeom prst="rect">
            <a:avLst/>
          </a:prstGeom>
        </p:spPr>
      </p:pic>
      <p:sp>
        <p:nvSpPr>
          <p:cNvPr id="24" name="Text 20"/>
          <p:cNvSpPr txBox="1"/>
          <p:nvPr/>
        </p:nvSpPr>
        <p:spPr>
          <a:xfrm>
            <a:off x="6172200" y="1993392"/>
            <a:ext cx="2514600" cy="731520"/>
          </a:xfrm>
          <a:prstGeom prst="rect">
            <a:avLst/>
          </a:prstGeom>
          <a:noFill/>
          <a:ln/>
        </p:spPr>
        <p:txBody>
          <a:bodyPr wrap="square" lIns="0" tIns="0" rIns="0" bIns="0" rtlCol="0" anchor="ctr"/>
          <a:lstStyle/>
          <a:p>
            <a:pPr indent="0" marL="0">
              <a:buNone/>
            </a:pPr>
            <a:r>
              <a:rPr lang="en-US" sz="1400" b="1" dirty="0">
                <a:solidFill>
                  <a:schemeClr val="tx2"/>
                </a:solidFill>
              </a:rPr>
              <a:t>Links are never opened</a:t>
            </a:r>
            <a:endParaRPr lang="en-US" sz="1400" dirty="0"/>
          </a:p>
          <a:p>
            <a:pPr indent="0" marL="0">
              <a:buNone/>
            </a:pPr>
            <a:r>
              <a:rPr lang="en-US" sz="1200" dirty="0">
                <a:solidFill>
                  <a:schemeClr val="tx1"/>
                </a:solidFill>
              </a:rPr>
              <a:t>They are read as text only</a:t>
            </a:r>
            <a:endParaRPr lang="en-US" sz="1400" dirty="0"/>
          </a:p>
        </p:txBody>
      </p:sp>
      <p:sp>
        <p:nvSpPr>
          <p:cNvPr id="25" name="Shape 21"/>
          <p:cNvSpPr/>
          <p:nvPr/>
        </p:nvSpPr>
        <p:spPr>
          <a:xfrm>
            <a:off x="5532120" y="2916936"/>
            <a:ext cx="502920" cy="502920"/>
          </a:xfrm>
          <a:prstGeom prst="ellipse">
            <a:avLst/>
          </a:prstGeom>
          <a:solidFill>
            <a:schemeClr val="accent1"/>
          </a:solidFill>
          <a:ln/>
        </p:spPr>
      </p:sp>
      <p:pic>
        <p:nvPicPr>
          <p:cNvPr id="26" name="Image 2" descr="preencoded.png">    </p:cNvPr>
          <p:cNvPicPr>
            <a:picLocks noChangeAspect="1"/>
          </p:cNvPicPr>
          <p:nvPr/>
        </p:nvPicPr>
        <p:blipFill>
          <a:blip r:embed="rId3"/>
          <a:stretch>
            <a:fillRect/>
          </a:stretch>
        </p:blipFill>
        <p:spPr>
          <a:xfrm>
            <a:off x="5657850" y="3042666"/>
            <a:ext cx="251460" cy="251460"/>
          </a:xfrm>
          <a:prstGeom prst="rect">
            <a:avLst/>
          </a:prstGeom>
        </p:spPr>
      </p:pic>
      <p:sp>
        <p:nvSpPr>
          <p:cNvPr id="27" name="Text 22"/>
          <p:cNvSpPr txBox="1"/>
          <p:nvPr/>
        </p:nvSpPr>
        <p:spPr>
          <a:xfrm>
            <a:off x="6172200" y="2843784"/>
            <a:ext cx="2514600" cy="731520"/>
          </a:xfrm>
          <a:prstGeom prst="rect">
            <a:avLst/>
          </a:prstGeom>
          <a:noFill/>
          <a:ln/>
        </p:spPr>
        <p:txBody>
          <a:bodyPr wrap="square" lIns="0" tIns="0" rIns="0" bIns="0" rtlCol="0" anchor="ctr"/>
          <a:lstStyle/>
          <a:p>
            <a:pPr indent="0" marL="0">
              <a:buNone/>
            </a:pPr>
            <a:r>
              <a:rPr lang="en-US" sz="1400" b="1" dirty="0">
                <a:solidFill>
                  <a:schemeClr val="tx2"/>
                </a:solidFill>
              </a:rPr>
              <a:t>Triage, not a verdict</a:t>
            </a:r>
            <a:endParaRPr lang="en-US" sz="1400" dirty="0"/>
          </a:p>
          <a:p>
            <a:pPr indent="0" marL="0">
              <a:buNone/>
            </a:pPr>
            <a:r>
              <a:rPr lang="en-US" sz="1200" dirty="0">
                <a:solidFill>
                  <a:schemeClr val="tx1"/>
                </a:solidFill>
              </a:rPr>
              <a:t>No percentages. Limits are shown</a:t>
            </a:r>
            <a:endParaRPr lang="en-US" sz="1400" dirty="0"/>
          </a:p>
        </p:txBody>
      </p:sp>
      <p:sp>
        <p:nvSpPr>
          <p:cNvPr id="28" name="Shape 23"/>
          <p:cNvSpPr/>
          <p:nvPr/>
        </p:nvSpPr>
        <p:spPr>
          <a:xfrm>
            <a:off x="5532120" y="3767328"/>
            <a:ext cx="502920" cy="502920"/>
          </a:xfrm>
          <a:prstGeom prst="ellipse">
            <a:avLst/>
          </a:prstGeom>
          <a:solidFill>
            <a:schemeClr val="accent1"/>
          </a:solidFill>
          <a:ln/>
        </p:spPr>
      </p:sp>
      <p:pic>
        <p:nvPicPr>
          <p:cNvPr id="29" name="Image 3" descr="preencoded.png">    </p:cNvPr>
          <p:cNvPicPr>
            <a:picLocks noChangeAspect="1"/>
          </p:cNvPicPr>
          <p:nvPr/>
        </p:nvPicPr>
        <p:blipFill>
          <a:blip r:embed="rId4"/>
          <a:stretch>
            <a:fillRect/>
          </a:stretch>
        </p:blipFill>
        <p:spPr>
          <a:xfrm>
            <a:off x="5657850" y="3893058"/>
            <a:ext cx="251460" cy="251460"/>
          </a:xfrm>
          <a:prstGeom prst="rect">
            <a:avLst/>
          </a:prstGeom>
        </p:spPr>
      </p:pic>
      <p:sp>
        <p:nvSpPr>
          <p:cNvPr id="30" name="Text 24"/>
          <p:cNvSpPr txBox="1"/>
          <p:nvPr/>
        </p:nvSpPr>
        <p:spPr>
          <a:xfrm>
            <a:off x="6172200" y="3694176"/>
            <a:ext cx="2514600" cy="731520"/>
          </a:xfrm>
          <a:prstGeom prst="rect">
            <a:avLst/>
          </a:prstGeom>
          <a:noFill/>
          <a:ln/>
        </p:spPr>
        <p:txBody>
          <a:bodyPr wrap="square" lIns="0" tIns="0" rIns="0" bIns="0" rtlCol="0" anchor="ctr"/>
          <a:lstStyle/>
          <a:p>
            <a:pPr indent="0" marL="0">
              <a:buNone/>
            </a:pPr>
            <a:r>
              <a:rPr lang="en-US" sz="1400" b="1" dirty="0">
                <a:solidFill>
                  <a:schemeClr val="tx2"/>
                </a:solidFill>
              </a:rPr>
              <a:t>Easy to use</a:t>
            </a:r>
            <a:endParaRPr lang="en-US" sz="1400" dirty="0"/>
          </a:p>
          <a:p>
            <a:pPr indent="0" marL="0">
              <a:buNone/>
            </a:pPr>
            <a:r>
              <a:rPr lang="en-US" sz="1200" dirty="0">
                <a:solidFill>
                  <a:schemeClr val="tx1"/>
                </a:solidFill>
              </a:rPr>
              <a:t>Keyboard, larger text, phone layouts</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Proposed measures of impact</a:t>
            </a:r>
            <a:endParaRPr lang="en-US" sz="3400" dirty="0"/>
          </a:p>
        </p:txBody>
      </p:sp>
      <p:sp>
        <p:nvSpPr>
          <p:cNvPr id="3" name="Shape 1"/>
          <p:cNvSpPr/>
          <p:nvPr/>
        </p:nvSpPr>
        <p:spPr>
          <a:xfrm>
            <a:off x="457200" y="1143000"/>
            <a:ext cx="2743200" cy="1965960"/>
          </a:xfrm>
          <a:prstGeom prst="roundRect">
            <a:avLst>
              <a:gd name="adj" fmla="val 5581"/>
            </a:avLst>
          </a:prstGeom>
          <a:solidFill>
            <a:schemeClr val="tx2"/>
          </a:solidFill>
          <a:ln/>
        </p:spPr>
      </p:sp>
      <p:sp>
        <p:nvSpPr>
          <p:cNvPr id="4" name="Text 2"/>
          <p:cNvSpPr txBox="1"/>
          <p:nvPr/>
        </p:nvSpPr>
        <p:spPr>
          <a:xfrm>
            <a:off x="640080" y="1234440"/>
            <a:ext cx="237744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31 / 31</a:t>
            </a:r>
            <a:endParaRPr lang="en-US" sz="4400" dirty="0"/>
          </a:p>
        </p:txBody>
      </p:sp>
      <p:sp>
        <p:nvSpPr>
          <p:cNvPr id="5" name="Text 3"/>
          <p:cNvSpPr txBox="1"/>
          <p:nvPr/>
        </p:nvSpPr>
        <p:spPr>
          <a:xfrm>
            <a:off x="640080" y="1938528"/>
            <a:ext cx="2377440" cy="594360"/>
          </a:xfrm>
          <a:prstGeom prst="rect">
            <a:avLst/>
          </a:prstGeom>
          <a:noFill/>
          <a:ln/>
        </p:spPr>
        <p:txBody>
          <a:bodyPr wrap="square" lIns="0" tIns="0" rIns="0" bIns="0" rtlCol="0" anchor="t"/>
          <a:lstStyle/>
          <a:p>
            <a:pPr indent="0" marL="0">
              <a:buNone/>
            </a:pPr>
            <a:r>
              <a:rPr lang="en-US" sz="1400" dirty="0">
                <a:solidFill>
                  <a:schemeClr val="bg1"/>
                </a:solidFill>
              </a:rPr>
              <a:t>expected warning signs shown across 9 fictional examples</a:t>
            </a:r>
            <a:endParaRPr lang="en-US" sz="1400" dirty="0"/>
          </a:p>
        </p:txBody>
      </p:sp>
      <p:sp>
        <p:nvSpPr>
          <p:cNvPr id="6" name="Text 4"/>
          <p:cNvSpPr txBox="1"/>
          <p:nvPr/>
        </p:nvSpPr>
        <p:spPr>
          <a:xfrm>
            <a:off x="640080" y="2560320"/>
            <a:ext cx="2377440" cy="457200"/>
          </a:xfrm>
          <a:prstGeom prst="rect">
            <a:avLst/>
          </a:prstGeom>
          <a:noFill/>
          <a:ln/>
        </p:spPr>
        <p:txBody>
          <a:bodyPr wrap="square" lIns="0" tIns="0" rIns="0" bIns="0" rtlCol="0" anchor="t"/>
          <a:lstStyle/>
          <a:p>
            <a:pPr indent="0" marL="0">
              <a:buNone/>
            </a:pPr>
            <a:r>
              <a:rPr lang="en-US" sz="1100" dirty="0">
                <a:solidFill>
                  <a:schemeClr val="bg2"/>
                </a:solidFill>
              </a:rPr>
              <a:t>Measured. A consistency check, not accuracy on real scams.</a:t>
            </a:r>
            <a:endParaRPr lang="en-US" sz="1100" dirty="0"/>
          </a:p>
        </p:txBody>
      </p:sp>
      <p:sp>
        <p:nvSpPr>
          <p:cNvPr id="7" name="Shape 5"/>
          <p:cNvSpPr/>
          <p:nvPr/>
        </p:nvSpPr>
        <p:spPr>
          <a:xfrm>
            <a:off x="457200" y="3246120"/>
            <a:ext cx="2743200" cy="1280160"/>
          </a:xfrm>
          <a:prstGeom prst="roundRect">
            <a:avLst>
              <a:gd name="adj" fmla="val 8571"/>
            </a:avLst>
          </a:prstGeom>
          <a:solidFill>
            <a:schemeClr val="bg2"/>
          </a:solidFill>
          <a:ln/>
        </p:spPr>
      </p:sp>
      <p:sp>
        <p:nvSpPr>
          <p:cNvPr id="8" name="Text 6"/>
          <p:cNvSpPr txBox="1"/>
          <p:nvPr/>
        </p:nvSpPr>
        <p:spPr>
          <a:xfrm>
            <a:off x="621792" y="3337560"/>
            <a:ext cx="2423160" cy="1143000"/>
          </a:xfrm>
          <a:prstGeom prst="rect">
            <a:avLst/>
          </a:prstGeom>
          <a:noFill/>
          <a:ln/>
        </p:spPr>
        <p:txBody>
          <a:bodyPr wrap="square" lIns="0" tIns="0" rIns="0" bIns="0" rtlCol="0" anchor="t"/>
          <a:lstStyle/>
          <a:p>
            <a:pPr indent="0" marL="0">
              <a:buNone/>
            </a:pPr>
            <a:r>
              <a:rPr lang="en-US" sz="1400" b="1" dirty="0">
                <a:solidFill>
                  <a:schemeClr val="tx2"/>
                </a:solidFill>
              </a:rPr>
              <a:t>Why this is social impact</a:t>
            </a:r>
            <a:endParaRPr lang="en-US" sz="1400" dirty="0"/>
          </a:p>
          <a:p>
            <a:pPr indent="0" marL="0">
              <a:buNone/>
            </a:pPr>
            <a:r>
              <a:rPr lang="en-US" sz="1400" dirty="0">
                <a:solidFill>
                  <a:schemeClr val="tx1"/>
                </a:solidFill>
              </a:rPr>
              <a:t>It builds understanding and safer choices for people with less digital experience.</a:t>
            </a:r>
            <a:endParaRPr lang="en-US" sz="1400" dirty="0"/>
          </a:p>
        </p:txBody>
      </p:sp>
      <p:sp>
        <p:nvSpPr>
          <p:cNvPr id="9" name="Shape 7"/>
          <p:cNvSpPr/>
          <p:nvPr/>
        </p:nvSpPr>
        <p:spPr>
          <a:xfrm>
            <a:off x="3383280" y="1143000"/>
            <a:ext cx="2606040" cy="1143000"/>
          </a:xfrm>
          <a:prstGeom prst="roundRect">
            <a:avLst>
              <a:gd name="adj" fmla="val 9600"/>
            </a:avLst>
          </a:prstGeom>
          <a:solidFill>
            <a:schemeClr val="bg2"/>
          </a:solidFill>
          <a:ln/>
        </p:spPr>
      </p:sp>
      <p:sp>
        <p:nvSpPr>
          <p:cNvPr id="10" name="Text 8"/>
          <p:cNvSpPr txBox="1"/>
          <p:nvPr/>
        </p:nvSpPr>
        <p:spPr>
          <a:xfrm>
            <a:off x="3520440" y="1234440"/>
            <a:ext cx="2331720" cy="182880"/>
          </a:xfrm>
          <a:prstGeom prst="rect">
            <a:avLst/>
          </a:prstGeom>
          <a:noFill/>
          <a:ln/>
        </p:spPr>
        <p:txBody>
          <a:bodyPr wrap="square" lIns="0" tIns="0" rIns="0" bIns="0" rtlCol="0" anchor="t"/>
          <a:lstStyle/>
          <a:p>
            <a:pPr indent="0" marL="0">
              <a:buNone/>
            </a:pPr>
            <a:r>
              <a:rPr lang="en-US" sz="1000" b="1" dirty="0">
                <a:solidFill>
                  <a:schemeClr val="accent2"/>
                </a:solidFill>
              </a:rPr>
              <a:t>TARGET, NOT YET MEASURED</a:t>
            </a:r>
            <a:endParaRPr lang="en-US" sz="1000" dirty="0"/>
          </a:p>
        </p:txBody>
      </p:sp>
      <p:sp>
        <p:nvSpPr>
          <p:cNvPr id="11" name="Text 9"/>
          <p:cNvSpPr txBox="1"/>
          <p:nvPr/>
        </p:nvSpPr>
        <p:spPr>
          <a:xfrm>
            <a:off x="3520440" y="1472184"/>
            <a:ext cx="2331720" cy="804672"/>
          </a:xfrm>
          <a:prstGeom prst="rect">
            <a:avLst/>
          </a:prstGeom>
          <a:noFill/>
          <a:ln/>
        </p:spPr>
        <p:txBody>
          <a:bodyPr wrap="square" lIns="0" tIns="0" rIns="0" bIns="0" rtlCol="0" anchor="t"/>
          <a:lstStyle/>
          <a:p>
            <a:pPr indent="0" marL="0">
              <a:buNone/>
            </a:pPr>
            <a:r>
              <a:rPr lang="en-US" sz="1400" b="1" dirty="0">
                <a:solidFill>
                  <a:schemeClr val="tx2"/>
                </a:solidFill>
              </a:rPr>
              <a:t>Quiz scores</a:t>
            </a:r>
            <a:endParaRPr lang="en-US" sz="1400" dirty="0"/>
          </a:p>
          <a:p>
            <a:pPr indent="0" marL="0">
              <a:buNone/>
            </a:pPr>
            <a:r>
              <a:rPr lang="en-US" sz="1200" dirty="0">
                <a:solidFill>
                  <a:schemeClr val="tx1"/>
                </a:solidFill>
              </a:rPr>
              <a:t>Share of questions correct before and after the Learn tab</a:t>
            </a:r>
            <a:endParaRPr lang="en-US" sz="1400" dirty="0"/>
          </a:p>
        </p:txBody>
      </p:sp>
      <p:sp>
        <p:nvSpPr>
          <p:cNvPr id="12" name="Shape 10"/>
          <p:cNvSpPr/>
          <p:nvPr/>
        </p:nvSpPr>
        <p:spPr>
          <a:xfrm>
            <a:off x="6080760" y="1143000"/>
            <a:ext cx="2606040" cy="1143000"/>
          </a:xfrm>
          <a:prstGeom prst="roundRect">
            <a:avLst>
              <a:gd name="adj" fmla="val 9600"/>
            </a:avLst>
          </a:prstGeom>
          <a:solidFill>
            <a:schemeClr val="bg2"/>
          </a:solidFill>
          <a:ln/>
        </p:spPr>
      </p:sp>
      <p:sp>
        <p:nvSpPr>
          <p:cNvPr id="13" name="Text 11"/>
          <p:cNvSpPr txBox="1"/>
          <p:nvPr/>
        </p:nvSpPr>
        <p:spPr>
          <a:xfrm>
            <a:off x="6217920" y="1234440"/>
            <a:ext cx="2331720" cy="182880"/>
          </a:xfrm>
          <a:prstGeom prst="rect">
            <a:avLst/>
          </a:prstGeom>
          <a:noFill/>
          <a:ln/>
        </p:spPr>
        <p:txBody>
          <a:bodyPr wrap="square" lIns="0" tIns="0" rIns="0" bIns="0" rtlCol="0" anchor="t"/>
          <a:lstStyle/>
          <a:p>
            <a:pPr indent="0" marL="0">
              <a:buNone/>
            </a:pPr>
            <a:r>
              <a:rPr lang="en-US" sz="1000" b="1" dirty="0">
                <a:solidFill>
                  <a:schemeClr val="accent2"/>
                </a:solidFill>
              </a:rPr>
              <a:t>TARGET, NOT YET MEASURED</a:t>
            </a:r>
            <a:endParaRPr lang="en-US" sz="1000" dirty="0"/>
          </a:p>
        </p:txBody>
      </p:sp>
      <p:sp>
        <p:nvSpPr>
          <p:cNvPr id="14" name="Text 12"/>
          <p:cNvSpPr txBox="1"/>
          <p:nvPr/>
        </p:nvSpPr>
        <p:spPr>
          <a:xfrm>
            <a:off x="6217920" y="1472184"/>
            <a:ext cx="2331720" cy="804672"/>
          </a:xfrm>
          <a:prstGeom prst="rect">
            <a:avLst/>
          </a:prstGeom>
          <a:noFill/>
          <a:ln/>
        </p:spPr>
        <p:txBody>
          <a:bodyPr wrap="square" lIns="0" tIns="0" rIns="0" bIns="0" rtlCol="0" anchor="t"/>
          <a:lstStyle/>
          <a:p>
            <a:pPr indent="0" marL="0">
              <a:buNone/>
            </a:pPr>
            <a:r>
              <a:rPr lang="en-US" sz="1400" b="1" dirty="0">
                <a:solidFill>
                  <a:schemeClr val="tx2"/>
                </a:solidFill>
              </a:rPr>
              <a:t>Time to spot signs</a:t>
            </a:r>
            <a:endParaRPr lang="en-US" sz="1400" dirty="0"/>
          </a:p>
          <a:p>
            <a:pPr indent="0" marL="0">
              <a:buNone/>
            </a:pPr>
            <a:r>
              <a:rPr lang="en-US" sz="1200" dirty="0">
                <a:solidFill>
                  <a:schemeClr val="tx1"/>
                </a:solidFill>
              </a:rPr>
              <a:t>Seconds to find the signs in a fictional message</a:t>
            </a:r>
            <a:endParaRPr lang="en-US" sz="1400" dirty="0"/>
          </a:p>
        </p:txBody>
      </p:sp>
      <p:sp>
        <p:nvSpPr>
          <p:cNvPr id="15" name="Shape 13"/>
          <p:cNvSpPr/>
          <p:nvPr/>
        </p:nvSpPr>
        <p:spPr>
          <a:xfrm>
            <a:off x="3383280" y="2423160"/>
            <a:ext cx="2606040" cy="1143000"/>
          </a:xfrm>
          <a:prstGeom prst="roundRect">
            <a:avLst>
              <a:gd name="adj" fmla="val 9600"/>
            </a:avLst>
          </a:prstGeom>
          <a:solidFill>
            <a:schemeClr val="bg2"/>
          </a:solidFill>
          <a:ln/>
        </p:spPr>
      </p:sp>
      <p:sp>
        <p:nvSpPr>
          <p:cNvPr id="16" name="Text 14"/>
          <p:cNvSpPr txBox="1"/>
          <p:nvPr/>
        </p:nvSpPr>
        <p:spPr>
          <a:xfrm>
            <a:off x="3520440" y="2514600"/>
            <a:ext cx="2331720" cy="182880"/>
          </a:xfrm>
          <a:prstGeom prst="rect">
            <a:avLst/>
          </a:prstGeom>
          <a:noFill/>
          <a:ln/>
        </p:spPr>
        <p:txBody>
          <a:bodyPr wrap="square" lIns="0" tIns="0" rIns="0" bIns="0" rtlCol="0" anchor="t"/>
          <a:lstStyle/>
          <a:p>
            <a:pPr indent="0" marL="0">
              <a:buNone/>
            </a:pPr>
            <a:r>
              <a:rPr lang="en-US" sz="1000" b="1" dirty="0">
                <a:solidFill>
                  <a:schemeClr val="accent2"/>
                </a:solidFill>
              </a:rPr>
              <a:t>TARGET, NOT YET MEASURED</a:t>
            </a:r>
            <a:endParaRPr lang="en-US" sz="1000" dirty="0"/>
          </a:p>
        </p:txBody>
      </p:sp>
      <p:sp>
        <p:nvSpPr>
          <p:cNvPr id="17" name="Text 15"/>
          <p:cNvSpPr txBox="1"/>
          <p:nvPr/>
        </p:nvSpPr>
        <p:spPr>
          <a:xfrm>
            <a:off x="3520440" y="2752344"/>
            <a:ext cx="2331720" cy="804672"/>
          </a:xfrm>
          <a:prstGeom prst="rect">
            <a:avLst/>
          </a:prstGeom>
          <a:noFill/>
          <a:ln/>
        </p:spPr>
        <p:txBody>
          <a:bodyPr wrap="square" lIns="0" tIns="0" rIns="0" bIns="0" rtlCol="0" anchor="t"/>
          <a:lstStyle/>
          <a:p>
            <a:pPr indent="0" marL="0">
              <a:buNone/>
            </a:pPr>
            <a:r>
              <a:rPr lang="en-US" sz="1400" b="1" dirty="0">
                <a:solidFill>
                  <a:schemeClr val="tx2"/>
                </a:solidFill>
              </a:rPr>
              <a:t>Workshop use</a:t>
            </a:r>
            <a:endParaRPr lang="en-US" sz="1400" dirty="0"/>
          </a:p>
          <a:p>
            <a:pPr indent="0" marL="0">
              <a:buNone/>
            </a:pPr>
            <a:r>
              <a:rPr lang="en-US" sz="1200" dirty="0">
                <a:solidFill>
                  <a:schemeClr val="tx1"/>
                </a:solidFill>
              </a:rPr>
              <a:t>Examples completed per community session</a:t>
            </a:r>
            <a:endParaRPr lang="en-US" sz="1400" dirty="0"/>
          </a:p>
        </p:txBody>
      </p:sp>
      <p:sp>
        <p:nvSpPr>
          <p:cNvPr id="18" name="Shape 16"/>
          <p:cNvSpPr/>
          <p:nvPr/>
        </p:nvSpPr>
        <p:spPr>
          <a:xfrm>
            <a:off x="6080760" y="2423160"/>
            <a:ext cx="2606040" cy="1143000"/>
          </a:xfrm>
          <a:prstGeom prst="roundRect">
            <a:avLst>
              <a:gd name="adj" fmla="val 9600"/>
            </a:avLst>
          </a:prstGeom>
          <a:solidFill>
            <a:schemeClr val="bg2"/>
          </a:solidFill>
          <a:ln/>
        </p:spPr>
      </p:sp>
      <p:sp>
        <p:nvSpPr>
          <p:cNvPr id="19" name="Text 17"/>
          <p:cNvSpPr txBox="1"/>
          <p:nvPr/>
        </p:nvSpPr>
        <p:spPr>
          <a:xfrm>
            <a:off x="6217920" y="2514600"/>
            <a:ext cx="2331720" cy="182880"/>
          </a:xfrm>
          <a:prstGeom prst="rect">
            <a:avLst/>
          </a:prstGeom>
          <a:noFill/>
          <a:ln/>
        </p:spPr>
        <p:txBody>
          <a:bodyPr wrap="square" lIns="0" tIns="0" rIns="0" bIns="0" rtlCol="0" anchor="t"/>
          <a:lstStyle/>
          <a:p>
            <a:pPr indent="0" marL="0">
              <a:buNone/>
            </a:pPr>
            <a:r>
              <a:rPr lang="en-US" sz="1000" b="1" dirty="0">
                <a:solidFill>
                  <a:schemeClr val="accent2"/>
                </a:solidFill>
              </a:rPr>
              <a:t>TARGET, NOT YET MEASURED</a:t>
            </a:r>
            <a:endParaRPr lang="en-US" sz="1000" dirty="0"/>
          </a:p>
        </p:txBody>
      </p:sp>
      <p:sp>
        <p:nvSpPr>
          <p:cNvPr id="20" name="Text 18"/>
          <p:cNvSpPr txBox="1"/>
          <p:nvPr/>
        </p:nvSpPr>
        <p:spPr>
          <a:xfrm>
            <a:off x="6217920" y="2752344"/>
            <a:ext cx="2331720" cy="804672"/>
          </a:xfrm>
          <a:prstGeom prst="rect">
            <a:avLst/>
          </a:prstGeom>
          <a:noFill/>
          <a:ln/>
        </p:spPr>
        <p:txBody>
          <a:bodyPr wrap="square" lIns="0" tIns="0" rIns="0" bIns="0" rtlCol="0" anchor="t"/>
          <a:lstStyle/>
          <a:p>
            <a:pPr indent="0" marL="0">
              <a:buNone/>
            </a:pPr>
            <a:r>
              <a:rPr lang="en-US" sz="1400" b="1" dirty="0">
                <a:solidFill>
                  <a:schemeClr val="tx2"/>
                </a:solidFill>
              </a:rPr>
              <a:t>Pilot feedback</a:t>
            </a:r>
            <a:endParaRPr lang="en-US" sz="1400" dirty="0"/>
          </a:p>
          <a:p>
            <a:pPr indent="0" marL="0">
              <a:buNone/>
            </a:pPr>
            <a:r>
              <a:rPr lang="en-US" sz="1200" dirty="0">
                <a:solidFill>
                  <a:schemeClr val="tx1"/>
                </a:solidFill>
              </a:rPr>
              <a:t>Clarity and usability, with consent</a:t>
            </a:r>
            <a:endParaRPr lang="en-US" sz="1400" dirty="0"/>
          </a:p>
        </p:txBody>
      </p:sp>
      <p:sp>
        <p:nvSpPr>
          <p:cNvPr id="21" name="Shape 19"/>
          <p:cNvSpPr/>
          <p:nvPr/>
        </p:nvSpPr>
        <p:spPr>
          <a:xfrm>
            <a:off x="3383280" y="3703320"/>
            <a:ext cx="1719072" cy="822960"/>
          </a:xfrm>
          <a:prstGeom prst="roundRect">
            <a:avLst>
              <a:gd name="adj" fmla="val 13333"/>
            </a:avLst>
          </a:prstGeom>
          <a:solidFill>
            <a:schemeClr val="accent1"/>
          </a:solidFill>
          <a:ln/>
        </p:spPr>
      </p:sp>
      <p:sp>
        <p:nvSpPr>
          <p:cNvPr id="22" name="Text 20"/>
          <p:cNvSpPr txBox="1"/>
          <p:nvPr/>
        </p:nvSpPr>
        <p:spPr>
          <a:xfrm>
            <a:off x="3493008" y="3749040"/>
            <a:ext cx="1517904" cy="731520"/>
          </a:xfrm>
          <a:prstGeom prst="rect">
            <a:avLst/>
          </a:prstGeom>
          <a:noFill/>
          <a:ln/>
        </p:spPr>
        <p:txBody>
          <a:bodyPr wrap="square" lIns="0" tIns="0" rIns="0" bIns="0" rtlCol="0" anchor="ctr"/>
          <a:lstStyle/>
          <a:p>
            <a:pPr indent="0" marL="0">
              <a:buNone/>
            </a:pPr>
            <a:r>
              <a:rPr lang="en-US" sz="1400" b="1" dirty="0">
                <a:solidFill>
                  <a:schemeClr val="bg1"/>
                </a:solidFill>
              </a:rPr>
              <a:t>SDG 9</a:t>
            </a:r>
            <a:endParaRPr lang="en-US" sz="1400" dirty="0"/>
          </a:p>
          <a:p>
            <a:pPr indent="0" marL="0">
              <a:buNone/>
            </a:pPr>
            <a:r>
              <a:rPr lang="en-US" sz="1100" dirty="0">
                <a:solidFill>
                  <a:schemeClr val="bg1"/>
                </a:solidFill>
              </a:rPr>
              <a:t>A light tool with no accounts</a:t>
            </a:r>
            <a:endParaRPr lang="en-US" sz="1400" dirty="0"/>
          </a:p>
        </p:txBody>
      </p:sp>
      <p:sp>
        <p:nvSpPr>
          <p:cNvPr id="23" name="Shape 21"/>
          <p:cNvSpPr/>
          <p:nvPr/>
        </p:nvSpPr>
        <p:spPr>
          <a:xfrm>
            <a:off x="5184648" y="3703320"/>
            <a:ext cx="1719072" cy="822960"/>
          </a:xfrm>
          <a:prstGeom prst="roundRect">
            <a:avLst>
              <a:gd name="adj" fmla="val 13333"/>
            </a:avLst>
          </a:prstGeom>
          <a:solidFill>
            <a:schemeClr val="accent1"/>
          </a:solidFill>
          <a:ln/>
        </p:spPr>
      </p:sp>
      <p:sp>
        <p:nvSpPr>
          <p:cNvPr id="24" name="Text 22"/>
          <p:cNvSpPr txBox="1"/>
          <p:nvPr/>
        </p:nvSpPr>
        <p:spPr>
          <a:xfrm>
            <a:off x="5294376" y="3749040"/>
            <a:ext cx="1517904" cy="731520"/>
          </a:xfrm>
          <a:prstGeom prst="rect">
            <a:avLst/>
          </a:prstGeom>
          <a:noFill/>
          <a:ln/>
        </p:spPr>
        <p:txBody>
          <a:bodyPr wrap="square" lIns="0" tIns="0" rIns="0" bIns="0" rtlCol="0" anchor="ctr"/>
          <a:lstStyle/>
          <a:p>
            <a:pPr indent="0" marL="0">
              <a:buNone/>
            </a:pPr>
            <a:r>
              <a:rPr lang="en-US" sz="1400" b="1" dirty="0">
                <a:solidFill>
                  <a:schemeClr val="bg1"/>
                </a:solidFill>
              </a:rPr>
              <a:t>SDG 10</a:t>
            </a:r>
            <a:endParaRPr lang="en-US" sz="1400" dirty="0"/>
          </a:p>
          <a:p>
            <a:pPr indent="0" marL="0">
              <a:buNone/>
            </a:pPr>
            <a:r>
              <a:rPr lang="en-US" sz="1100" dirty="0">
                <a:solidFill>
                  <a:schemeClr val="bg1"/>
                </a:solidFill>
              </a:rPr>
              <a:t>Plain English for everyone</a:t>
            </a:r>
            <a:endParaRPr lang="en-US" sz="1400" dirty="0"/>
          </a:p>
        </p:txBody>
      </p:sp>
      <p:sp>
        <p:nvSpPr>
          <p:cNvPr id="25" name="Shape 23"/>
          <p:cNvSpPr/>
          <p:nvPr/>
        </p:nvSpPr>
        <p:spPr>
          <a:xfrm>
            <a:off x="6986016" y="3703320"/>
            <a:ext cx="1719072" cy="822960"/>
          </a:xfrm>
          <a:prstGeom prst="roundRect">
            <a:avLst>
              <a:gd name="adj" fmla="val 13333"/>
            </a:avLst>
          </a:prstGeom>
          <a:solidFill>
            <a:schemeClr val="accent1"/>
          </a:solidFill>
          <a:ln/>
        </p:spPr>
      </p:sp>
      <p:sp>
        <p:nvSpPr>
          <p:cNvPr id="26" name="Text 24"/>
          <p:cNvSpPr txBox="1"/>
          <p:nvPr/>
        </p:nvSpPr>
        <p:spPr>
          <a:xfrm>
            <a:off x="7095744" y="3749040"/>
            <a:ext cx="1517904" cy="731520"/>
          </a:xfrm>
          <a:prstGeom prst="rect">
            <a:avLst/>
          </a:prstGeom>
          <a:noFill/>
          <a:ln/>
        </p:spPr>
        <p:txBody>
          <a:bodyPr wrap="square" lIns="0" tIns="0" rIns="0" bIns="0" rtlCol="0" anchor="ctr"/>
          <a:lstStyle/>
          <a:p>
            <a:pPr indent="0" marL="0">
              <a:buNone/>
            </a:pPr>
            <a:r>
              <a:rPr lang="en-US" sz="1400" b="1" dirty="0">
                <a:solidFill>
                  <a:schemeClr val="bg1"/>
                </a:solidFill>
              </a:rPr>
              <a:t>SDG 16</a:t>
            </a:r>
            <a:endParaRPr lang="en-US" sz="1400" dirty="0"/>
          </a:p>
          <a:p>
            <a:pPr indent="0" marL="0">
              <a:buNone/>
            </a:pPr>
            <a:r>
              <a:rPr lang="en-US" sz="1100" dirty="0">
                <a:solidFill>
                  <a:schemeClr val="bg1"/>
                </a:solidFill>
              </a:rPr>
              <a:t>Safer steps and official reporting</a:t>
            </a:r>
            <a:endParaRPr lang="en-US" sz="1400" dirty="0"/>
          </a:p>
        </p:txBody>
      </p:sp>
      <p:sp>
        <p:nvSpPr>
          <p:cNvPr id="27" name="Text 25"/>
          <p:cNvSpPr txBox="1"/>
          <p:nvPr/>
        </p:nvSpPr>
        <p:spPr>
          <a:xfrm>
            <a:off x="457200" y="4599432"/>
            <a:ext cx="8229600" cy="182880"/>
          </a:xfrm>
          <a:prstGeom prst="rect">
            <a:avLst/>
          </a:prstGeom>
          <a:noFill/>
          <a:ln/>
        </p:spPr>
        <p:txBody>
          <a:bodyPr wrap="square" lIns="0" tIns="0" rIns="0" bIns="0" rtlCol="0" anchor="t"/>
          <a:lstStyle/>
          <a:p>
            <a:pPr indent="0" marL="0">
              <a:buNone/>
            </a:pPr>
            <a:r>
              <a:rPr lang="en-US" sz="1000" dirty="0">
                <a:solidFill>
                  <a:schemeClr val="accent5"/>
                </a:solidFill>
              </a:rPr>
              <a:t>No external statistics are used in this deck. Any pilot needs consent and honest reporting of sample size.</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bg1"/>
                </a:solidFill>
              </a:rPr>
              <a:t>What is built, and what is next</a:t>
            </a:r>
            <a:endParaRPr lang="en-US" sz="3400" dirty="0"/>
          </a:p>
        </p:txBody>
      </p:sp>
      <p:sp>
        <p:nvSpPr>
          <p:cNvPr id="3" name="Shape 1"/>
          <p:cNvSpPr/>
          <p:nvPr/>
        </p:nvSpPr>
        <p:spPr>
          <a:xfrm>
            <a:off x="457200" y="1097280"/>
            <a:ext cx="2651760" cy="2788920"/>
          </a:xfrm>
          <a:prstGeom prst="roundRect">
            <a:avLst>
              <a:gd name="adj" fmla="val 4138"/>
            </a:avLst>
          </a:prstGeom>
          <a:solidFill>
            <a:schemeClr val="bg1">
              <a:alpha val="10000"/>
            </a:schemeClr>
          </a:solidFill>
          <a:ln/>
        </p:spPr>
      </p:sp>
      <p:sp>
        <p:nvSpPr>
          <p:cNvPr id="4" name="Shape 2"/>
          <p:cNvSpPr/>
          <p:nvPr/>
        </p:nvSpPr>
        <p:spPr>
          <a:xfrm>
            <a:off x="640080" y="1234440"/>
            <a:ext cx="457200" cy="457200"/>
          </a:xfrm>
          <a:prstGeom prst="ellipse">
            <a:avLst/>
          </a:prstGeom>
          <a:solidFill>
            <a:schemeClr val="bg1"/>
          </a:solidFill>
          <a:ln/>
        </p:spPr>
      </p:sp>
      <p:pic>
        <p:nvPicPr>
          <p:cNvPr id="5" name="Image 0" descr="preencoded.png">    </p:cNvPr>
          <p:cNvPicPr>
            <a:picLocks noChangeAspect="1"/>
          </p:cNvPicPr>
          <p:nvPr/>
        </p:nvPicPr>
        <p:blipFill>
          <a:blip r:embed="rId1"/>
          <a:stretch>
            <a:fillRect/>
          </a:stretch>
        </p:blipFill>
        <p:spPr>
          <a:xfrm>
            <a:off x="754380" y="1348740"/>
            <a:ext cx="228600" cy="228600"/>
          </a:xfrm>
          <a:prstGeom prst="rect">
            <a:avLst/>
          </a:prstGeom>
        </p:spPr>
      </p:pic>
      <p:sp>
        <p:nvSpPr>
          <p:cNvPr id="6" name="Text 3"/>
          <p:cNvSpPr txBox="1"/>
          <p:nvPr/>
        </p:nvSpPr>
        <p:spPr>
          <a:xfrm>
            <a:off x="1234440" y="1234440"/>
            <a:ext cx="1783080" cy="457200"/>
          </a:xfrm>
          <a:prstGeom prst="rect">
            <a:avLst/>
          </a:prstGeom>
          <a:noFill/>
          <a:ln/>
        </p:spPr>
        <p:txBody>
          <a:bodyPr wrap="square" lIns="0" tIns="0" rIns="0" bIns="0" rtlCol="0" anchor="ctr"/>
          <a:lstStyle/>
          <a:p>
            <a:pPr indent="0" marL="0">
              <a:buNone/>
            </a:pPr>
            <a:r>
              <a:rPr lang="en-US" sz="1600" b="1" dirty="0">
                <a:solidFill>
                  <a:schemeClr val="bg1"/>
                </a:solidFill>
              </a:rPr>
              <a:t>Built and tested</a:t>
            </a:r>
            <a:endParaRPr lang="en-US" sz="1600" dirty="0"/>
          </a:p>
        </p:txBody>
      </p:sp>
      <p:sp>
        <p:nvSpPr>
          <p:cNvPr id="7" name="Text 4"/>
          <p:cNvSpPr txBox="1"/>
          <p:nvPr/>
        </p:nvSpPr>
        <p:spPr>
          <a:xfrm>
            <a:off x="640080" y="182880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Message and link checker</a:t>
            </a:r>
            <a:endParaRPr lang="en-US" sz="1400" dirty="0"/>
          </a:p>
          <a:p>
            <a:pPr marL="342900" indent="-342900">
              <a:spcAft>
                <a:spcPts val="500"/>
              </a:spcAft>
              <a:buSzPct val="100000"/>
              <a:buChar char="•"/>
            </a:pPr>
            <a:r>
              <a:rPr lang="en-US" sz="1400" dirty="0">
                <a:solidFill>
                  <a:schemeClr val="bg1"/>
                </a:solidFill>
              </a:rPr>
              <a:t>9 fictional examples, 7-question quiz</a:t>
            </a:r>
            <a:endParaRPr lang="en-US" sz="1400" dirty="0"/>
          </a:p>
          <a:p>
            <a:pPr marL="342900" indent="-342900">
              <a:spcAft>
                <a:spcPts val="500"/>
              </a:spcAft>
              <a:buSzPct val="100000"/>
              <a:buChar char="•"/>
            </a:pPr>
            <a:r>
              <a:rPr lang="en-US" sz="1400" dirty="0">
                <a:solidFill>
                  <a:schemeClr val="bg1"/>
                </a:solidFill>
              </a:rPr>
              <a:t>Private incident summary</a:t>
            </a:r>
            <a:endParaRPr lang="en-US" sz="1400" dirty="0"/>
          </a:p>
          <a:p>
            <a:pPr marL="342900" indent="-342900">
              <a:spcAft>
                <a:spcPts val="500"/>
              </a:spcAft>
              <a:buSzPct val="100000"/>
              <a:buChar char="•"/>
            </a:pPr>
            <a:r>
              <a:rPr lang="en-US" sz="1400" dirty="0">
                <a:solidFill>
                  <a:schemeClr val="bg1"/>
                </a:solidFill>
              </a:rPr>
              <a:t>38 automated tests and 21 browser checks passed</a:t>
            </a:r>
            <a:endParaRPr lang="en-US" sz="1400" dirty="0"/>
          </a:p>
        </p:txBody>
      </p:sp>
      <p:sp>
        <p:nvSpPr>
          <p:cNvPr id="8" name="Shape 5"/>
          <p:cNvSpPr/>
          <p:nvPr/>
        </p:nvSpPr>
        <p:spPr>
          <a:xfrm>
            <a:off x="3246120" y="1097280"/>
            <a:ext cx="2651760" cy="2788920"/>
          </a:xfrm>
          <a:prstGeom prst="roundRect">
            <a:avLst>
              <a:gd name="adj" fmla="val 4138"/>
            </a:avLst>
          </a:prstGeom>
          <a:solidFill>
            <a:schemeClr val="bg1">
              <a:alpha val="10000"/>
            </a:schemeClr>
          </a:solidFill>
          <a:ln/>
        </p:spPr>
      </p:sp>
      <p:sp>
        <p:nvSpPr>
          <p:cNvPr id="9" name="Shape 6"/>
          <p:cNvSpPr/>
          <p:nvPr/>
        </p:nvSpPr>
        <p:spPr>
          <a:xfrm>
            <a:off x="3429000" y="1234440"/>
            <a:ext cx="457200" cy="457200"/>
          </a:xfrm>
          <a:prstGeom prst="ellipse">
            <a:avLst/>
          </a:prstGeom>
          <a:solidFill>
            <a:schemeClr val="bg1"/>
          </a:solidFill>
          <a:ln/>
        </p:spPr>
      </p:sp>
      <p:pic>
        <p:nvPicPr>
          <p:cNvPr id="10" name="Image 1" descr="preencoded.png">    </p:cNvPr>
          <p:cNvPicPr>
            <a:picLocks noChangeAspect="1"/>
          </p:cNvPicPr>
          <p:nvPr/>
        </p:nvPicPr>
        <p:blipFill>
          <a:blip r:embed="rId2"/>
          <a:stretch>
            <a:fillRect/>
          </a:stretch>
        </p:blipFill>
        <p:spPr>
          <a:xfrm>
            <a:off x="3543300" y="1348740"/>
            <a:ext cx="228600" cy="228600"/>
          </a:xfrm>
          <a:prstGeom prst="rect">
            <a:avLst/>
          </a:prstGeom>
        </p:spPr>
      </p:pic>
      <p:sp>
        <p:nvSpPr>
          <p:cNvPr id="11" name="Text 7"/>
          <p:cNvSpPr txBox="1"/>
          <p:nvPr/>
        </p:nvSpPr>
        <p:spPr>
          <a:xfrm>
            <a:off x="4023360" y="1234440"/>
            <a:ext cx="1783080" cy="457200"/>
          </a:xfrm>
          <a:prstGeom prst="rect">
            <a:avLst/>
          </a:prstGeom>
          <a:noFill/>
          <a:ln/>
        </p:spPr>
        <p:txBody>
          <a:bodyPr wrap="square" lIns="0" tIns="0" rIns="0" bIns="0" rtlCol="0" anchor="ctr"/>
          <a:lstStyle/>
          <a:p>
            <a:pPr indent="0" marL="0">
              <a:buNone/>
            </a:pPr>
            <a:r>
              <a:rPr lang="en-US" sz="1600" b="1" dirty="0">
                <a:solidFill>
                  <a:schemeClr val="bg1"/>
                </a:solidFill>
              </a:rPr>
              <a:t>Honest limits</a:t>
            </a:r>
            <a:endParaRPr lang="en-US" sz="1600" dirty="0"/>
          </a:p>
        </p:txBody>
      </p:sp>
      <p:sp>
        <p:nvSpPr>
          <p:cNvPr id="12" name="Text 8"/>
          <p:cNvSpPr txBox="1"/>
          <p:nvPr/>
        </p:nvSpPr>
        <p:spPr>
          <a:xfrm>
            <a:off x="3429000" y="182880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Simple English rules can miss scams</a:t>
            </a:r>
            <a:endParaRPr lang="en-US" sz="1400" dirty="0"/>
          </a:p>
          <a:p>
            <a:pPr marL="342900" indent="-342900">
              <a:spcAft>
                <a:spcPts val="500"/>
              </a:spcAft>
              <a:buSzPct val="100000"/>
              <a:buChar char="•"/>
            </a:pPr>
            <a:r>
              <a:rPr lang="en-US" sz="1400" dirty="0">
                <a:solidFill>
                  <a:schemeClr val="bg1"/>
                </a:solidFill>
              </a:rPr>
              <a:t>Accuracy and impact not measured yet</a:t>
            </a:r>
            <a:endParaRPr lang="en-US" sz="1400" dirty="0"/>
          </a:p>
          <a:p>
            <a:pPr marL="342900" indent="-342900">
              <a:spcAft>
                <a:spcPts val="500"/>
              </a:spcAft>
              <a:buSzPct val="100000"/>
              <a:buChar char="•"/>
            </a:pPr>
            <a:r>
              <a:rPr lang="en-US" sz="1400" dirty="0">
                <a:solidFill>
                  <a:schemeClr val="bg1"/>
                </a:solidFill>
              </a:rPr>
              <a:t>Reporting details not set for a location</a:t>
            </a:r>
            <a:endParaRPr lang="en-US" sz="1400" dirty="0"/>
          </a:p>
        </p:txBody>
      </p:sp>
      <p:sp>
        <p:nvSpPr>
          <p:cNvPr id="13" name="Shape 9"/>
          <p:cNvSpPr/>
          <p:nvPr/>
        </p:nvSpPr>
        <p:spPr>
          <a:xfrm>
            <a:off x="6035040" y="1097280"/>
            <a:ext cx="2651760" cy="2788920"/>
          </a:xfrm>
          <a:prstGeom prst="roundRect">
            <a:avLst>
              <a:gd name="adj" fmla="val 4138"/>
            </a:avLst>
          </a:prstGeom>
          <a:solidFill>
            <a:schemeClr val="bg1">
              <a:alpha val="10000"/>
            </a:schemeClr>
          </a:solidFill>
          <a:ln/>
        </p:spPr>
      </p:sp>
      <p:sp>
        <p:nvSpPr>
          <p:cNvPr id="14" name="Shape 10"/>
          <p:cNvSpPr/>
          <p:nvPr/>
        </p:nvSpPr>
        <p:spPr>
          <a:xfrm>
            <a:off x="6217920" y="1234440"/>
            <a:ext cx="457200" cy="457200"/>
          </a:xfrm>
          <a:prstGeom prst="ellipse">
            <a:avLst/>
          </a:prstGeom>
          <a:solidFill>
            <a:schemeClr val="bg1"/>
          </a:solidFill>
          <a:ln/>
        </p:spPr>
      </p:sp>
      <p:pic>
        <p:nvPicPr>
          <p:cNvPr id="15" name="Image 2" descr="preencoded.png">    </p:cNvPr>
          <p:cNvPicPr>
            <a:picLocks noChangeAspect="1"/>
          </p:cNvPicPr>
          <p:nvPr/>
        </p:nvPicPr>
        <p:blipFill>
          <a:blip r:embed="rId3"/>
          <a:stretch>
            <a:fillRect/>
          </a:stretch>
        </p:blipFill>
        <p:spPr>
          <a:xfrm>
            <a:off x="6332220" y="1348740"/>
            <a:ext cx="228600" cy="228600"/>
          </a:xfrm>
          <a:prstGeom prst="rect">
            <a:avLst/>
          </a:prstGeom>
        </p:spPr>
      </p:pic>
      <p:sp>
        <p:nvSpPr>
          <p:cNvPr id="16" name="Text 11"/>
          <p:cNvSpPr txBox="1"/>
          <p:nvPr/>
        </p:nvSpPr>
        <p:spPr>
          <a:xfrm>
            <a:off x="6812280" y="1234440"/>
            <a:ext cx="1783080" cy="457200"/>
          </a:xfrm>
          <a:prstGeom prst="rect">
            <a:avLst/>
          </a:prstGeom>
          <a:noFill/>
          <a:ln/>
        </p:spPr>
        <p:txBody>
          <a:bodyPr wrap="square" lIns="0" tIns="0" rIns="0" bIns="0" rtlCol="0" anchor="ctr"/>
          <a:lstStyle/>
          <a:p>
            <a:pPr indent="0" marL="0">
              <a:buNone/>
            </a:pPr>
            <a:r>
              <a:rPr lang="en-US" sz="1600" b="1" dirty="0">
                <a:solidFill>
                  <a:schemeClr val="bg1"/>
                </a:solidFill>
              </a:rPr>
              <a:t>Next steps</a:t>
            </a:r>
            <a:endParaRPr lang="en-US" sz="1600" dirty="0"/>
          </a:p>
        </p:txBody>
      </p:sp>
      <p:sp>
        <p:nvSpPr>
          <p:cNvPr id="17" name="Text 12"/>
          <p:cNvSpPr txBox="1"/>
          <p:nvPr/>
        </p:nvSpPr>
        <p:spPr>
          <a:xfrm>
            <a:off x="6217920" y="1828800"/>
            <a:ext cx="2331720" cy="1965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Consent-based pilot</a:t>
            </a:r>
            <a:endParaRPr lang="en-US" sz="1400" dirty="0"/>
          </a:p>
          <a:p>
            <a:pPr marL="342900" indent="-342900">
              <a:spcAft>
                <a:spcPts val="500"/>
              </a:spcAft>
              <a:buSzPct val="100000"/>
              <a:buChar char="•"/>
            </a:pPr>
            <a:r>
              <a:rPr lang="en-US" sz="1400" dirty="0">
                <a:solidFill>
                  <a:schemeClr val="bg1"/>
                </a:solidFill>
              </a:rPr>
              <a:t>Verified local reporting details</a:t>
            </a:r>
            <a:endParaRPr lang="en-US" sz="1400" dirty="0"/>
          </a:p>
          <a:p>
            <a:pPr marL="342900" indent="-342900">
              <a:spcAft>
                <a:spcPts val="500"/>
              </a:spcAft>
              <a:buSzPct val="100000"/>
              <a:buChar char="•"/>
            </a:pPr>
            <a:r>
              <a:rPr lang="en-US" sz="1400" dirty="0">
                <a:solidFill>
                  <a:schemeClr val="bg1"/>
                </a:solidFill>
              </a:rPr>
              <a:t>Screen-reader testing</a:t>
            </a:r>
            <a:endParaRPr lang="en-US" sz="1400" dirty="0"/>
          </a:p>
          <a:p>
            <a:pPr marL="342900" indent="-342900">
              <a:spcAft>
                <a:spcPts val="500"/>
              </a:spcAft>
              <a:buSzPct val="100000"/>
              <a:buChar char="•"/>
            </a:pPr>
            <a:r>
              <a:rPr lang="en-US" sz="1400" dirty="0">
                <a:solidFill>
                  <a:schemeClr val="bg1"/>
                </a:solidFill>
              </a:rPr>
              <a:t>Admin page, printable guide, PWA</a:t>
            </a:r>
            <a:endParaRPr lang="en-US" sz="1400" dirty="0"/>
          </a:p>
        </p:txBody>
      </p:sp>
      <p:sp>
        <p:nvSpPr>
          <p:cNvPr id="18" name="Shape 13"/>
          <p:cNvSpPr/>
          <p:nvPr/>
        </p:nvSpPr>
        <p:spPr>
          <a:xfrm>
            <a:off x="457200" y="4023360"/>
            <a:ext cx="8229600" cy="640080"/>
          </a:xfrm>
          <a:prstGeom prst="roundRect">
            <a:avLst>
              <a:gd name="adj" fmla="val 17143"/>
            </a:avLst>
          </a:prstGeom>
          <a:solidFill>
            <a:schemeClr val="accent1"/>
          </a:solidFill>
          <a:ln/>
        </p:spPr>
      </p:sp>
      <p:sp>
        <p:nvSpPr>
          <p:cNvPr id="19" name="Text 14"/>
          <p:cNvSpPr txBox="1"/>
          <p:nvPr/>
        </p:nvSpPr>
        <p:spPr>
          <a:xfrm>
            <a:off x="685800" y="4023360"/>
            <a:ext cx="7772400" cy="640080"/>
          </a:xfrm>
          <a:prstGeom prst="rect">
            <a:avLst/>
          </a:prstGeom>
          <a:noFill/>
          <a:ln/>
        </p:spPr>
        <p:txBody>
          <a:bodyPr wrap="square" lIns="0" tIns="0" rIns="0" bIns="0" rtlCol="0" anchor="ctr"/>
          <a:lstStyle/>
          <a:p>
            <a:pPr indent="0" marL="0">
              <a:buNone/>
            </a:pPr>
            <a:r>
              <a:rPr lang="en-US" sz="1800" b="1" dirty="0">
                <a:solidFill>
                  <a:schemeClr val="bg1"/>
                </a:solidFill>
              </a:rPr>
              <a:t>Try it: paste a fictional message and see exactly why it raises caution.</a:t>
            </a:r>
            <a:endParaRPr lang="en-US" sz="1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camShield">
  <a:themeElements>
    <a:clrScheme name="ScamShield">
      <a:dk1>
        <a:srgbClr val="14232E"/>
      </a:dk1>
      <a:lt1>
        <a:srgbClr val="FFFFFF"/>
      </a:lt1>
      <a:dk2>
        <a:srgbClr val="0B3D5C"/>
      </a:dk2>
      <a:lt2>
        <a:srgbClr val="EAF1F6"/>
      </a:lt2>
      <a:accent1>
        <a:srgbClr val="0A6E5D"/>
      </a:accent1>
      <a:accent2>
        <a:srgbClr val="9A5B00"/>
      </a:accent2>
      <a:accent3>
        <a:srgbClr val="B3261E"/>
      </a:accent3>
      <a:accent4>
        <a:srgbClr val="1F5F8B"/>
      </a:accent4>
      <a:accent5>
        <a:srgbClr val="5A6B79"/>
      </a:accent5>
      <a:accent6>
        <a:srgbClr val="6B4C9A"/>
      </a:accent6>
      <a:hlink>
        <a:srgbClr val="0050C8"/>
      </a:hlink>
      <a:folHlink>
        <a:srgbClr val="5B3FA0"/>
      </a:folHlink>
    </a:clrScheme>
    <a:fontScheme name="Scam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ScamShield - Digital Fraud Awareness for Everyone</dc:title>
  <dc:subject>PptxGenJS Presentation</dc:subject>
  <dc:creator>ScamShield team</dc:creator>
  <cp:lastModifiedBy>ScamShield team</cp:lastModifiedBy>
  <cp:revision>1</cp:revision>
  <dcterms:created xsi:type="dcterms:W3CDTF">2026-10-09T11:45:14Z</dcterms:created>
  <dcterms:modified xsi:type="dcterms:W3CDTF">2026-10-09T11:45:14Z</dcterms:modified>
</cp:coreProperties>
</file>